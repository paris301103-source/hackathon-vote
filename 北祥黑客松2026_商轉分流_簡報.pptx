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分佈</c:v>
                </c:pt>
              </c:strCache>
            </c:strRef>
          </c:tx>
          <c:dPt>
            <c:idx val="0"/>
            <c:spPr>
              <a:solidFill>
                <a:srgbClr val="0E7C6B"/>
              </a:solidFill>
            </c:spPr>
          </c:dPt>
          <c:dPt>
            <c:idx val="1"/>
            <c:spPr>
              <a:solidFill>
                <a:srgbClr val="2E5496"/>
              </a:solidFill>
            </c:spPr>
          </c:dPt>
          <c:dPt>
            <c:idx val="2"/>
            <c:spPr>
              <a:solidFill>
                <a:srgbClr val="6A3E9E"/>
              </a:solidFill>
            </c:spPr>
          </c:dPt>
          <c:dPt>
            <c:idx val="3"/>
            <c:spPr>
              <a:solidFill>
                <a:srgbClr val="9C6500"/>
              </a:solidFill>
            </c:spPr>
          </c:dPt>
          <c:cat>
            <c:strRef>
              <c:f>Sheet1!$A$2:$A$5</c:f>
              <c:strCache>
                <c:ptCount val="4"/>
                <c:pt idx="0">
                  <c:v>流程優化</c:v>
                </c:pt>
                <c:pt idx="1">
                  <c:v>平台</c:v>
                </c:pt>
                <c:pt idx="2">
                  <c:v>KM 產品</c:v>
                </c:pt>
                <c:pt idx="3">
                  <c:v>觀察評估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4</c:v>
                </c:pt>
                <c:pt idx="2">
                  <c:v>4</c:v>
                </c:pt>
                <c:pt idx="3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  <a:latin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>
              <a:latin typeface="Microsoft Jheng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053328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89888" y="6053328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56816" y="6053328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6A3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23744" y="6053328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9C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FB3E8"/>
                </a:solidFill>
                <a:latin typeface="Microsoft JhengHei"/>
                <a:ea typeface="Microsoft JhengHei"/>
                <a:cs typeface="Microsoft JhengHei"/>
              </a:rPr>
              <a:t>北祥黑客松 2026 · DEMO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24 組作品　商轉分流計畫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1089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哪些流程優化 · 哪些打包成產品 · 怎麼佈署 · 怎麼顧資安　（每組附一句話講解）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794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7FE3D4"/>
                </a:solidFill>
                <a:latin typeface="Microsoft JhengHei"/>
                <a:ea typeface="Microsoft JhengHei"/>
                <a:cs typeface="Microsoft JhengHei"/>
              </a:rPr>
              <a:t>敢想，就能 Run。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54880"/>
            <a:ext cx="3246120" cy="713232"/>
          </a:xfrm>
          <a:prstGeom prst="roundRect">
            <a:avLst>
              <a:gd name="adj" fmla="val 16000"/>
            </a:avLst>
          </a:prstGeom>
          <a:solidFill>
            <a:srgbClr val="26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4928616"/>
            <a:ext cx="365760" cy="365760"/>
          </a:xfrm>
          <a:prstGeom prst="ellipse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4882896"/>
            <a:ext cx="25877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BDD"/>
                </a:solidFill>
                <a:latin typeface="Microsoft JhengHei"/>
                <a:ea typeface="Microsoft JhengHei"/>
                <a:cs typeface="Microsoft JhengHei"/>
              </a:rPr>
              <a:t>流程優化</a:t>
            </a:r>
          </a:p>
          <a:p>
            <a:pPr algn="l">
              <a:spcBef>
                <a:spcPts val="100"/>
              </a:spcBef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RAE · IAN · GIBBY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15384" y="4754880"/>
            <a:ext cx="2148840" cy="713232"/>
          </a:xfrm>
          <a:prstGeom prst="roundRect">
            <a:avLst>
              <a:gd name="adj" fmla="val 16000"/>
            </a:avLst>
          </a:prstGeom>
          <a:solidFill>
            <a:srgbClr val="26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61688" y="4928616"/>
            <a:ext cx="365760" cy="365760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4882896"/>
            <a:ext cx="1490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BDD"/>
                </a:solidFill>
                <a:latin typeface="Microsoft JhengHei"/>
                <a:ea typeface="Microsoft JhengHei"/>
                <a:cs typeface="Microsoft JhengHei"/>
              </a:rPr>
              <a:t>中小企業 AI 平台</a:t>
            </a:r>
          </a:p>
          <a:p>
            <a:pPr algn="l">
              <a:spcBef>
                <a:spcPts val="100"/>
              </a:spcBef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WIND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10528" y="4754880"/>
            <a:ext cx="1965960" cy="713232"/>
          </a:xfrm>
          <a:prstGeom prst="roundRect">
            <a:avLst>
              <a:gd name="adj" fmla="val 16000"/>
            </a:avLst>
          </a:prstGeom>
          <a:solidFill>
            <a:srgbClr val="26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56832" y="4928616"/>
            <a:ext cx="365760" cy="365760"/>
          </a:xfrm>
          <a:prstGeom prst="ellipse">
            <a:avLst/>
          </a:prstGeom>
          <a:solidFill>
            <a:srgbClr val="6A3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5744" y="4882896"/>
            <a:ext cx="13075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BDD"/>
                </a:solidFill>
                <a:latin typeface="Microsoft JhengHei"/>
                <a:ea typeface="Microsoft JhengHei"/>
                <a:cs typeface="Microsoft JhengHei"/>
              </a:rPr>
              <a:t>KM 整合產品</a:t>
            </a:r>
          </a:p>
          <a:p>
            <a:pPr algn="l">
              <a:spcBef>
                <a:spcPts val="100"/>
              </a:spcBef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Allen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22792" y="4754880"/>
            <a:ext cx="1828800" cy="713232"/>
          </a:xfrm>
          <a:prstGeom prst="roundRect">
            <a:avLst>
              <a:gd name="adj" fmla="val 16000"/>
            </a:avLst>
          </a:prstGeom>
          <a:solidFill>
            <a:srgbClr val="26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69096" y="4928616"/>
            <a:ext cx="365760" cy="365760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4882896"/>
            <a:ext cx="11704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BDD"/>
                </a:solidFill>
                <a:latin typeface="Microsoft JhengHei"/>
                <a:ea typeface="Microsoft JhengHei"/>
                <a:cs typeface="Microsoft JhengHei"/>
              </a:rPr>
              <a:t>資安審核</a:t>
            </a:r>
          </a:p>
          <a:p>
            <a:pPr algn="l">
              <a:spcBef>
                <a:spcPts val="100"/>
              </a:spcBef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PUNK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093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E8DB8"/>
                </a:solidFill>
                <a:latin typeface="Microsoft JhengHei"/>
                <a:ea typeface="Microsoft JhengHei"/>
                <a:cs typeface="Microsoft JhengHei"/>
              </a:rPr>
              <a:t>2026.07　｜　清單不含評分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執行摘要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24 組作品分成四大去向，各有 Owner，全部上線前經 PUNK 資安審核。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697480" cy="1234440"/>
          </a:xfrm>
          <a:prstGeom prst="roundRect">
            <a:avLst>
              <a:gd name="adj" fmla="val 10000"/>
            </a:avLst>
          </a:prstGeom>
          <a:solidFill>
            <a:srgbClr val="E9F3F0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2423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0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流程優化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828800"/>
            <a:ext cx="2697480" cy="1234440"/>
          </a:xfrm>
          <a:prstGeom prst="roundRect">
            <a:avLst>
              <a:gd name="adj" fmla="val 10000"/>
            </a:avLst>
          </a:prstGeom>
          <a:solidFill>
            <a:srgbClr val="EAF0FA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938528"/>
            <a:ext cx="2423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00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3592" y="274320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中小企業 AI 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1828800"/>
            <a:ext cx="2697480" cy="1234440"/>
          </a:xfrm>
          <a:prstGeom prst="roundRect">
            <a:avLst>
              <a:gd name="adj" fmla="val 10000"/>
            </a:avLst>
          </a:prstGeom>
          <a:solidFill>
            <a:srgbClr val="F1EBF7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938528"/>
            <a:ext cx="2423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000" b="1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274320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KM 整合產品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89136" y="1828800"/>
            <a:ext cx="2697480" cy="1234440"/>
          </a:xfrm>
          <a:prstGeom prst="roundRect">
            <a:avLst>
              <a:gd name="adj" fmla="val 10000"/>
            </a:avLst>
          </a:prstGeom>
          <a:solidFill>
            <a:srgbClr val="FAF3E3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26296" y="1938528"/>
            <a:ext cx="2423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0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6296" y="274320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觀察評估 · 待定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2900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三個策略重點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9684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931920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整併避免打架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KM 類 4 組重疊高，整併為一套引擎、三種面向的產品線。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" y="490118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64608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產品用打包思維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On-Site／INTELLIGENT／哨兵／快報，包成一站式『中小企業 AI 推進平台』。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" y="583387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797296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先用起來再擴大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流程優化 10 組：6 組立即導入、4 組觀察；另 6 組待評估去向。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675120" y="3611880"/>
          <a:ext cx="484632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675120" y="32004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24 組分佈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分流總覽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四大去向　·　內部 RAE·IAN·GIBBY ｜ 平台 WIND ｜ KM Allen ｜ 資安 PUNK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2724912" cy="4983480"/>
          </a:xfrm>
          <a:prstGeom prst="roundRect">
            <a:avLst>
              <a:gd name="adj" fmla="val 5000"/>
            </a:avLst>
          </a:prstGeom>
          <a:solidFill>
            <a:srgbClr val="E9F3F0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724912" cy="777240"/>
          </a:xfrm>
          <a:prstGeom prst="roundRect">
            <a:avLst>
              <a:gd name="adj" fmla="val 5000"/>
            </a:avLst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591056"/>
            <a:ext cx="24505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流程優化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EAF0FA"/>
                </a:solidFill>
                <a:latin typeface="Microsoft JhengHei"/>
                <a:ea typeface="Microsoft JhengHei"/>
                <a:cs typeface="Microsoft JhengHei"/>
              </a:rPr>
              <a:t>10 組 · RAE·IAN·GIBBY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432304"/>
            <a:ext cx="2404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000" b="0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Felina（金賞）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93492"/>
            <a:ext cx="2404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000" b="0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出納實驗室（銀賞）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154680"/>
            <a:ext cx="2404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000" b="0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DIU.gain（銅賞）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515868"/>
            <a:ext cx="2404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000" b="0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三薪二億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877056"/>
            <a:ext cx="2404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000" b="0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揪 Together（HR）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238244"/>
            <a:ext cx="2404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000" b="0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10萬碳長（ESG）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599431"/>
            <a:ext cx="24048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觀察評估（內部候選）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928616"/>
            <a:ext cx="2404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000" b="0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四娘教子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289804"/>
            <a:ext cx="2404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000" b="0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Log分析助理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650992"/>
            <a:ext cx="2404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000" b="0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票交覺醒者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6012179"/>
            <a:ext cx="2404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000" b="0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我是助理凱粒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47287" y="1508760"/>
            <a:ext cx="2724912" cy="4983480"/>
          </a:xfrm>
          <a:prstGeom prst="roundRect">
            <a:avLst>
              <a:gd name="adj" fmla="val 5000"/>
            </a:avLst>
          </a:prstGeom>
          <a:solidFill>
            <a:srgbClr val="EAF0FA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47287" y="1508760"/>
            <a:ext cx="2724912" cy="777240"/>
          </a:xfrm>
          <a:prstGeom prst="roundRect">
            <a:avLst>
              <a:gd name="adj" fmla="val 5000"/>
            </a:avLst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79" y="1591056"/>
            <a:ext cx="24505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中小企業 AI 平台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EAF0FA"/>
                </a:solidFill>
                <a:latin typeface="Microsoft JhengHei"/>
                <a:ea typeface="Microsoft JhengHei"/>
                <a:cs typeface="Microsoft JhengHei"/>
              </a:rPr>
              <a:t>打包產品 · WIND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2432304"/>
            <a:ext cx="2404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000" b="0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A²PE（On-Site）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168" y="2793492"/>
            <a:ext cx="2404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000" b="0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好事成雙（INTELLIGENT）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0168" y="3154680"/>
            <a:ext cx="2404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000" b="0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DIUDIU（哨兵 Sentry）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0168" y="3515868"/>
            <a:ext cx="2404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000" b="0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快報開麥拉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4496" y="1508760"/>
            <a:ext cx="2724912" cy="4983480"/>
          </a:xfrm>
          <a:prstGeom prst="roundRect">
            <a:avLst>
              <a:gd name="adj" fmla="val 5000"/>
            </a:avLst>
          </a:prstGeom>
          <a:solidFill>
            <a:srgbClr val="F1EBF7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54496" y="1508760"/>
            <a:ext cx="2724912" cy="777240"/>
          </a:xfrm>
          <a:prstGeom prst="roundRect">
            <a:avLst>
              <a:gd name="adj" fmla="val 5000"/>
            </a:avLst>
          </a:prstGeom>
          <a:solidFill>
            <a:srgbClr val="6A3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1591056"/>
            <a:ext cx="24505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KM 知識管理整合產品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EAF0FA"/>
                </a:solidFill>
                <a:latin typeface="Microsoft JhengHei"/>
                <a:ea typeface="Microsoft JhengHei"/>
                <a:cs typeface="Microsoft JhengHei"/>
              </a:rPr>
              <a:t>一套引擎 · Allen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2432304"/>
            <a:ext cx="2404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000" b="0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CorpMind（核心引擎）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2793492"/>
            <a:ext cx="2404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000" b="0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智庫守護者（對內）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7376" y="3154680"/>
            <a:ext cx="2404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000" b="0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我要10萬（Web-GPT）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3515868"/>
            <a:ext cx="2404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000" b="0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Personal KM（個人版）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61704" y="1508760"/>
            <a:ext cx="2724912" cy="4983480"/>
          </a:xfrm>
          <a:prstGeom prst="roundRect">
            <a:avLst>
              <a:gd name="adj" fmla="val 5000"/>
            </a:avLst>
          </a:prstGeom>
          <a:solidFill>
            <a:srgbClr val="FAF3E3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061704" y="1508760"/>
            <a:ext cx="2724912" cy="777240"/>
          </a:xfrm>
          <a:prstGeom prst="roundRect">
            <a:avLst>
              <a:gd name="adj" fmla="val 5000"/>
            </a:avLst>
          </a:prstGeom>
          <a:solidFill>
            <a:srgbClr val="9C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26296" y="1591056"/>
            <a:ext cx="24505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觀察評估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EAF0FA"/>
                </a:solidFill>
                <a:latin typeface="Microsoft JhengHei"/>
                <a:ea typeface="Microsoft JhengHei"/>
                <a:cs typeface="Microsoft JhengHei"/>
              </a:rPr>
              <a:t>待定去向 · 6 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44584" y="2432304"/>
            <a:ext cx="2404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000" b="0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我帶著工程師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44584" y="2793492"/>
            <a:ext cx="2404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000" b="0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PDC木奉木奉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44584" y="3154680"/>
            <a:ext cx="2404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000" b="0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招兵買馬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44584" y="3515868"/>
            <a:ext cx="2404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000" b="0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三色豆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44584" y="3877056"/>
            <a:ext cx="2404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000" b="0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小理專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44584" y="4238244"/>
            <a:ext cx="2404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000" b="0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通知超人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E9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301752"/>
            <a:ext cx="548640" cy="548640"/>
          </a:xfrm>
          <a:prstGeom prst="ellipse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"/>
            <a:ext cx="8503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流程優化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82296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優化內部流程 · 成熟可孵化成產品。6 組立即導入＋4 組觀察評估。資安：PUNK。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10244" y="347472"/>
            <a:ext cx="2738628" cy="502920"/>
          </a:xfrm>
          <a:prstGeom prst="roundRect">
            <a:avLst>
              <a:gd name="adj" fmla="val 20000"/>
            </a:avLst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10244" y="402336"/>
            <a:ext cx="27386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Owner：RAE · IAN · GIBBY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3639312" cy="1298448"/>
          </a:xfrm>
          <a:prstGeom prst="roundRect">
            <a:avLst>
              <a:gd name="adj" fmla="val 7000"/>
            </a:avLst>
          </a:prstGeom>
          <a:solidFill>
            <a:srgbClr val="E9F3F0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1508760"/>
            <a:ext cx="146304" cy="146304"/>
          </a:xfrm>
          <a:prstGeom prst="ellipse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463039"/>
            <a:ext cx="1810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Felina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59" y="1472184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59" y="1490472"/>
            <a:ext cx="10241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即刻上線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1856231"/>
            <a:ext cx="3227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AI 工具治理（金賞）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130552"/>
            <a:ext cx="3227832" cy="4023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把 Claude/Codex/Gemini 的設定與技能集中管理，AI 工具不再各自為政。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43984" y="1325880"/>
            <a:ext cx="3639312" cy="1298448"/>
          </a:xfrm>
          <a:prstGeom prst="roundRect">
            <a:avLst>
              <a:gd name="adj" fmla="val 7000"/>
            </a:avLst>
          </a:prstGeom>
          <a:solidFill>
            <a:srgbClr val="E9F3F0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26864" y="1508760"/>
            <a:ext cx="146304" cy="146304"/>
          </a:xfrm>
          <a:prstGeom prst="ellipse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1184" y="1463039"/>
            <a:ext cx="1810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出納實驗室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12864" y="1472184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12864" y="1490472"/>
            <a:ext cx="10241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即刻上線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1856231"/>
            <a:ext cx="3227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現金流三視角（銀賞）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130552"/>
            <a:ext cx="3227832" cy="4023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現金流從多份報表整合成單一來源，主管/財務/出納三視角一次看。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47888" y="1325880"/>
            <a:ext cx="3639312" cy="1298448"/>
          </a:xfrm>
          <a:prstGeom prst="roundRect">
            <a:avLst>
              <a:gd name="adj" fmla="val 7000"/>
            </a:avLst>
          </a:prstGeom>
          <a:solidFill>
            <a:srgbClr val="E9F3F0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7" y="1508760"/>
            <a:ext cx="146304" cy="146304"/>
          </a:xfrm>
          <a:prstGeom prst="ellipse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1463039"/>
            <a:ext cx="1810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DIU.gain(100000)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716768" y="1472184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16768" y="1490472"/>
            <a:ext cx="10241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即刻上線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7344" y="1856231"/>
            <a:ext cx="3227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Agile ERP 助理（銅賞）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7344" y="2130552"/>
            <a:ext cx="3227832" cy="4023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用講的就能查 ERP 庫存/交期/毛利，AI 只建草稿不亂過帳。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2743200"/>
            <a:ext cx="3639312" cy="1298448"/>
          </a:xfrm>
          <a:prstGeom prst="roundRect">
            <a:avLst>
              <a:gd name="adj" fmla="val 7000"/>
            </a:avLst>
          </a:prstGeom>
          <a:solidFill>
            <a:srgbClr val="E9F3F0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59" y="2926080"/>
            <a:ext cx="146304" cy="146304"/>
          </a:xfrm>
          <a:prstGeom prst="ellipse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2880360"/>
            <a:ext cx="1810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三薪二億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59" y="2889504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59" y="2907792"/>
            <a:ext cx="10241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即刻上線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273552"/>
            <a:ext cx="3227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上單審查檢核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3547872"/>
            <a:ext cx="3227832" cy="4023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報價單/合約送簽前，AI 自動抓遺漏、算錯金額與不合理條款。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43984" y="2743200"/>
            <a:ext cx="3639312" cy="1298448"/>
          </a:xfrm>
          <a:prstGeom prst="roundRect">
            <a:avLst>
              <a:gd name="adj" fmla="val 7000"/>
            </a:avLst>
          </a:prstGeom>
          <a:solidFill>
            <a:srgbClr val="E9F3F0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626864" y="2926080"/>
            <a:ext cx="146304" cy="146304"/>
          </a:xfrm>
          <a:prstGeom prst="ellipse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01184" y="2880360"/>
            <a:ext cx="1810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揪 Together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12864" y="2889504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12864" y="2907792"/>
            <a:ext cx="10241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即刻上線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3273552"/>
            <a:ext cx="3227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職場連結（HR）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3547872"/>
            <a:ext cx="3227832" cy="4023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用興趣標籤與職場動物測驗，讓同事快速認識、促進跨部門交流。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47888" y="2743200"/>
            <a:ext cx="3639312" cy="1298448"/>
          </a:xfrm>
          <a:prstGeom prst="roundRect">
            <a:avLst>
              <a:gd name="adj" fmla="val 7000"/>
            </a:avLst>
          </a:prstGeom>
          <a:solidFill>
            <a:srgbClr val="E9F3F0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430767" y="2926080"/>
            <a:ext cx="146304" cy="146304"/>
          </a:xfrm>
          <a:prstGeom prst="ellipse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2880360"/>
            <a:ext cx="1810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10萬碳長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716768" y="2889504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716768" y="2907792"/>
            <a:ext cx="10241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即刻上線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67344" y="3273552"/>
            <a:ext cx="3227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ESG 財會自動化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67344" y="3547872"/>
            <a:ext cx="3227832" cy="4023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ESG 財會自動化，財報自動轉 GRI、冷媒逸散計算、同業對標。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411480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⚪ 觀察評估（內部候選，評估後導入）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4434840"/>
            <a:ext cx="2688336" cy="102412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4671" y="4526280"/>
            <a:ext cx="23957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四娘教子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1" y="4846320"/>
            <a:ext cx="239572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採購倉儲盤點自動化，跨表比對一鍵出報告，3 小時→5 分。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65576" y="4434840"/>
            <a:ext cx="2688336" cy="102412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30168" y="4526280"/>
            <a:ext cx="23957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Log分析助理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30168" y="4846320"/>
            <a:ext cx="239572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用聊天的方式快速分析跨系統 Log，加速抓出問題。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91072" y="4434840"/>
            <a:ext cx="2688336" cy="102412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55664" y="4526280"/>
            <a:ext cx="23957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票交覺醒者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55664" y="4846320"/>
            <a:ext cx="239572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給 AI 裝上票交所大腦，自動比對規格、解析舊程式碼。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16567" y="4434840"/>
            <a:ext cx="2688336" cy="102412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81159" y="4526280"/>
            <a:ext cx="23957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我是助理凱粒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81159" y="4846320"/>
            <a:ext cx="239572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AI 幫 PM 自動核對每月工時、抓出掛錯專案與異常。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55778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交付：RAE · IAN · GIBBY　</a:t>
            </a:r>
            <a:r>
              <a:rPr sz="10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｜　6 組即刻上線；同步研究佈署/權限/市場（下頁）。資安確認：滲透測試·權限稽核·PII 遮蔽·私有端點·PUNK 簽核。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流程優化導入計畫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交付：RAE · IAN · GIBBY　｜　資安：PUNK。立即導入 6 組即刻上線，並同步研究下列三件事把導入做穩、做大。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E9F3F0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🟢 立即導入 6 組即刻上線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76272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Felina · 出納實驗室 · DIU.gain(100000) · 三薪二億 · 揪 Together · 10萬碳長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另有 4 組內部觀察（四娘教子/Log/票交/我是助理凱粒）評估後導入。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91840"/>
            <a:ext cx="3639312" cy="1874519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7" y="3474720"/>
            <a:ext cx="457200" cy="457200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520440"/>
            <a:ext cx="27249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佈署方式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114800"/>
            <a:ext cx="322783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內網或 Azure 私有租戶？容器化部署？與 ERP／SharePoint 的串接方式與同步機制。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3984" y="3291840"/>
            <a:ext cx="3639312" cy="1874519"/>
          </a:xfrm>
          <a:prstGeom prst="roundRect">
            <a:avLst>
              <a:gd name="adj" fmla="val 8000"/>
            </a:avLst>
          </a:prstGeom>
          <a:solidFill>
            <a:srgbClr val="F1EBF7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5152" y="3474720"/>
            <a:ext cx="457200" cy="457200"/>
          </a:xfrm>
          <a:prstGeom prst="ellipse">
            <a:avLst/>
          </a:prstGeom>
          <a:solidFill>
            <a:srgbClr val="6A3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66944" y="3520440"/>
            <a:ext cx="27249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權限規劃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114800"/>
            <a:ext cx="322783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角色分級、資料存取邊界、AI 動作邊界（只建草稿不過帳）、完整操作稽核 log。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3291840"/>
            <a:ext cx="3639312" cy="1874519"/>
          </a:xfrm>
          <a:prstGeom prst="roundRect">
            <a:avLst>
              <a:gd name="adj" fmla="val 8000"/>
            </a:avLst>
          </a:prstGeom>
          <a:solidFill>
            <a:srgbClr val="FAF3E3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49056" y="3474720"/>
            <a:ext cx="457200" cy="457200"/>
          </a:xfrm>
          <a:prstGeom prst="ellipse">
            <a:avLst/>
          </a:prstGeom>
          <a:solidFill>
            <a:srgbClr val="9C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8" y="3520440"/>
            <a:ext cx="27249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市場規劃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4114800"/>
            <a:ext cx="322783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哪些內部工具未來可對外商轉？先在內部驗證成效與 ROI，再評估產品化。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Next（RAE · IAN · GIBBY）：</a:t>
            </a:r>
            <a:r>
              <a:rPr sz="11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① 立即導入 6 組本季試營運 ② 完成佈署/權限/市場評估 ③ 逐案送 PUNK 簽核 ④ 一季後檢視成效、決定擴大或對外；4 組內部觀察併行評估。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301752"/>
            <a:ext cx="548640" cy="548640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"/>
            <a:ext cx="8503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中小企業 AI 推進平台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82296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多個作品模組化，包成一站式中小企業 AI 導入平台，模組化訂閱、按需開通。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15016" y="347472"/>
            <a:ext cx="1133856" cy="502920"/>
          </a:xfrm>
          <a:prstGeom prst="roundRect">
            <a:avLst>
              <a:gd name="adj" fmla="val 20000"/>
            </a:avLst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5016" y="402336"/>
            <a:ext cx="11338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Owner：WIND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平台定位　</a:t>
            </a:r>
            <a:r>
              <a:rPr sz="12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中小企業沒有大 IT、沒預算買多套系統 —— 單一帳號＋模組化訂閱，一次 AI 化；另備地端版。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5532120" cy="1234440"/>
          </a:xfrm>
          <a:prstGeom prst="roundRect">
            <a:avLst>
              <a:gd name="adj" fmla="val 7000"/>
            </a:avLst>
          </a:prstGeom>
          <a:solidFill>
            <a:srgbClr val="EAF0FA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59" y="2148840"/>
            <a:ext cx="146304" cy="146304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03120"/>
            <a:ext cx="4937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外勤服務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9631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A²PE（On-Site）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770632"/>
            <a:ext cx="51206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外勤口述一句話，AI 幫你寫好紀錄回寫 CRM，行政交給 AI。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965960"/>
            <a:ext cx="5532120" cy="1234440"/>
          </a:xfrm>
          <a:prstGeom prst="roundRect">
            <a:avLst>
              <a:gd name="adj" fmla="val 7000"/>
            </a:avLst>
          </a:prstGeom>
          <a:solidFill>
            <a:srgbClr val="EAF0FA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37960" y="2148840"/>
            <a:ext cx="146304" cy="146304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103120"/>
            <a:ext cx="4937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智慧業務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249631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好事成雙（INTELLIGENT）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4536" y="2770632"/>
            <a:ext cx="51206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一套系統七種業務視角，取代天價 CRM、還會替你想下一步。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337560"/>
            <a:ext cx="5532120" cy="1234440"/>
          </a:xfrm>
          <a:prstGeom prst="roundRect">
            <a:avLst>
              <a:gd name="adj" fmla="val 7000"/>
            </a:avLst>
          </a:prstGeom>
          <a:solidFill>
            <a:srgbClr val="EAF0FA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3520440"/>
            <a:ext cx="146304" cy="146304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474720"/>
            <a:ext cx="4937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資安訓練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867911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DIUDIU（哨兵 Sentry）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142232"/>
            <a:ext cx="51206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AI 生成擬真詐騙情境，讓員工在對話中演練、練出資安肌肉。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337560"/>
            <a:ext cx="5532120" cy="1234440"/>
          </a:xfrm>
          <a:prstGeom prst="roundRect">
            <a:avLst>
              <a:gd name="adj" fmla="val 7000"/>
            </a:avLst>
          </a:prstGeom>
          <a:solidFill>
            <a:srgbClr val="EAF0FA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37960" y="3520440"/>
            <a:ext cx="146304" cy="146304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474720"/>
            <a:ext cx="4937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市場情報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4536" y="3867911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快報開麥拉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4536" y="4142232"/>
            <a:ext cx="51206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新聞到短影音一條龍，AI 幫你自動製播市場情報影片。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983480"/>
            <a:ext cx="3639312" cy="1371600"/>
          </a:xfrm>
          <a:prstGeom prst="roundRect">
            <a:avLst>
              <a:gd name="adj" fmla="val 7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5093208"/>
            <a:ext cx="33192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佈署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" y="5440680"/>
            <a:ext cx="33192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多租戶（Azure）＋共用登入/計費/權限中台，各模組可獨立開通；另備地端版。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43984" y="4983480"/>
            <a:ext cx="3639312" cy="1371600"/>
          </a:xfrm>
          <a:prstGeom prst="roundRect">
            <a:avLst>
              <a:gd name="adj" fmla="val 7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26864" y="5093208"/>
            <a:ext cx="33192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C0504D"/>
                </a:solidFill>
                <a:latin typeface="Microsoft JhengHei"/>
                <a:ea typeface="Microsoft JhengHei"/>
                <a:cs typeface="Microsoft JhengHei"/>
              </a:rPr>
              <a:t>資安 · PUNK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6864" y="5440680"/>
            <a:ext cx="33192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跨模組共用身分與稽核，每模組上線前 PUNK 資安簽核。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47888" y="4983480"/>
            <a:ext cx="3639312" cy="1371600"/>
          </a:xfrm>
          <a:prstGeom prst="roundRect">
            <a:avLst>
              <a:gd name="adj" fmla="val 7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30767" y="5093208"/>
            <a:ext cx="33192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Next 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0767" y="5440680"/>
            <a:ext cx="33192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先做共用外殼＋2 明星模組（智慧業務＋資安訓練）對外 Demo，找 2–3 家試點。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平台建置流程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Owner：WIND　｜　六階段從架構到上架，每階段完成後由 PUNK 資安簽核才進下一步。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3493008" cy="13716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783080"/>
            <a:ext cx="475488" cy="475488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1801368"/>
            <a:ext cx="262432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架構規劃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350008"/>
            <a:ext cx="308152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定平台整體架構、共用中台範圍，選定 2 個明星模組先做。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00200"/>
            <a:ext cx="3493008" cy="13716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26280" y="1783080"/>
            <a:ext cx="475488" cy="475488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801368"/>
            <a:ext cx="262432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共用外殼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2350008"/>
            <a:ext cx="308152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建多租戶骨架＋SSO/計費/權限中台＋模組掛載機制。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600200"/>
            <a:ext cx="3493008" cy="13716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599" y="1783080"/>
            <a:ext cx="475488" cy="475488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59" y="1801368"/>
            <a:ext cx="262432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明星模組 MVP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5" y="2350008"/>
            <a:ext cx="308152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智慧業務＋資安訓練模組做到可對外 Demo 的完成度。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54680"/>
            <a:ext cx="3493008" cy="13716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59" y="3337560"/>
            <a:ext cx="475488" cy="475488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355848"/>
            <a:ext cx="262432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資安與測試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3904488"/>
            <a:ext cx="308152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PUNK 資安審核、滲透測試、壓力測試與弱點修補。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154680"/>
            <a:ext cx="3493008" cy="13716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3337560"/>
            <a:ext cx="475488" cy="475488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355848"/>
            <a:ext cx="262432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客戶試點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2856" y="3904488"/>
            <a:ext cx="308152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找 2–3 家中小企業試用，驗證訂閱模式與收費。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3154680"/>
            <a:ext cx="3493008" cy="13716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599" y="3337560"/>
            <a:ext cx="475488" cy="475488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59" y="3355848"/>
            <a:ext cx="262432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擴充上架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5" y="3904488"/>
            <a:ext cx="308152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逐步掛載外勤、市場情報等模組＋地端版＋KM 問答入口。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029200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關鍵原則　</a:t>
            </a:r>
            <a:r>
              <a:rPr sz="11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先窄後寬：不要一次做六模組，先把『共用外殼＋2 明星模組』做穩、拿到試點客戶回饋，再擴充。每階段都設資安關卡（PUNK 簽核）。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平台還要處理的事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除了技術建置，這些是平台要能真正對外賣，必須一起規劃的事（Owner：WIND）。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72768"/>
            <a:ext cx="3493008" cy="1417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755648"/>
            <a:ext cx="457200" cy="457200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1792224"/>
            <a:ext cx="2624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定價與商業模式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322576"/>
            <a:ext cx="308152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模組化訂閱、分級（基礎/進階/企業）、地端版授權、按用量計費。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72768"/>
            <a:ext cx="3493008" cy="1417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26280" y="1755648"/>
            <a:ext cx="457200" cy="457200"/>
          </a:xfrm>
          <a:prstGeom prst="ellipse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3208" y="1792224"/>
            <a:ext cx="2624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品牌與官網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2322576"/>
            <a:ext cx="308152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產品命名、對外形象、產品官網與 Demo 環境。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572768"/>
            <a:ext cx="3493008" cy="1417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599" y="1755648"/>
            <a:ext cx="457200" cy="457200"/>
          </a:xfrm>
          <a:prstGeom prst="ellipse">
            <a:avLst/>
          </a:prstGeom>
          <a:solidFill>
            <a:srgbClr val="6A3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1792224"/>
            <a:ext cx="2624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導入與客服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5" y="2322576"/>
            <a:ext cx="308152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客戶上手流程、教學文件、支援管道與 SLA。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72968"/>
            <a:ext cx="3493008" cy="1417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59" y="3355848"/>
            <a:ext cx="457200" cy="457200"/>
          </a:xfrm>
          <a:prstGeom prst="ellipse">
            <a:avLst/>
          </a:prstGeom>
          <a:solidFill>
            <a:srgbClr val="9C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3392424"/>
            <a:ext cx="2624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地端版打包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3922776"/>
            <a:ext cx="308152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Docker／內網一鍵安裝，供重資料主權客戶。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172968"/>
            <a:ext cx="3493008" cy="1417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3355848"/>
            <a:ext cx="457200" cy="457200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3208" y="3392424"/>
            <a:ext cx="2624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法遵與合約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2856" y="3922776"/>
            <a:ext cx="308152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個資法、資料處理條款、授權合約、資安承諾。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3172968"/>
            <a:ext cx="3493008" cy="1417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599" y="3355848"/>
            <a:ext cx="457200" cy="457200"/>
          </a:xfrm>
          <a:prstGeom prst="ellipse">
            <a:avLst/>
          </a:prstGeom>
          <a:solidFill>
            <a:srgbClr val="2F7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96528" y="3392424"/>
            <a:ext cx="2624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KM 問答入口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5" y="3922776"/>
            <a:ext cx="308152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與 Allen 的 KM 線共用引擎，作平台知識模組。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892040"/>
            <a:ext cx="10908792" cy="14173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7FE3D4"/>
                </a:solidFill>
                <a:latin typeface="Microsoft JhengHei"/>
                <a:ea typeface="Microsoft JhengHei"/>
                <a:cs typeface="Microsoft JhengHei"/>
              </a:rPr>
              <a:t>商業模式一句話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4068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單一帳號、模組化訂閱：按需開通、按人或用量收費；重視資料主權者買地端版。先用 2 個明星模組打進中小企業，再靠平台黏著加購其他模組。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1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301752"/>
            <a:ext cx="548640" cy="548640"/>
          </a:xfrm>
          <a:prstGeom prst="ellipse">
            <a:avLst/>
          </a:prstGeom>
          <a:solidFill>
            <a:srgbClr val="6A3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"/>
            <a:ext cx="8503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KM 知識管理整合產品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82296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四組知識庫重疊高，整併為『一套核心引擎、三種面向』的產品線。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91572" y="347472"/>
            <a:ext cx="1257300" cy="502920"/>
          </a:xfrm>
          <a:prstGeom prst="roundRect">
            <a:avLst>
              <a:gd name="adj" fmla="val 20000"/>
            </a:avLst>
          </a:prstGeom>
          <a:solidFill>
            <a:srgbClr val="6A3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91572" y="402336"/>
            <a:ext cx="12573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Owner：Allen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31720"/>
            <a:ext cx="2926080" cy="1600200"/>
          </a:xfrm>
          <a:prstGeom prst="roundRect">
            <a:avLst>
              <a:gd name="adj" fmla="val 8000"/>
            </a:avLst>
          </a:prstGeom>
          <a:solidFill>
            <a:srgbClr val="6A3E9E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8716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E7DDF3"/>
                </a:solidFill>
                <a:latin typeface="Microsoft JhengHei"/>
                <a:ea typeface="Microsoft JhengHei"/>
                <a:cs typeface="Microsoft JhengHei"/>
              </a:rPr>
              <a:t>核心引擎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CorpMind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1012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D8C9EC"/>
                </a:solidFill>
                <a:latin typeface="Microsoft JhengHei"/>
                <a:ea typeface="Microsoft JhengHei"/>
                <a:cs typeface="Microsoft JhengHei"/>
              </a:rPr>
              <a:t>上傳公司文件，員工用問的就有答案且附來源、可地端。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60520"/>
            <a:ext cx="2926080" cy="777240"/>
          </a:xfrm>
          <a:prstGeom prst="roundRect">
            <a:avLst>
              <a:gd name="adj" fmla="val 10000"/>
            </a:avLst>
          </a:prstGeom>
          <a:solidFill>
            <a:srgbClr val="F1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33672"/>
            <a:ext cx="2834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入口：我要10萬（Web-GPT）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8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自動爬網站與文件變 AI 知識庫，用 LINE/網頁即問即答。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840480" y="2542032"/>
            <a:ext cx="640080" cy="274320"/>
          </a:xfrm>
          <a:prstGeom prst="rightArrow">
            <a:avLst/>
          </a:prstGeom>
          <a:solidFill>
            <a:srgbClr val="C9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17720" y="2194560"/>
            <a:ext cx="6766560" cy="1078992"/>
          </a:xfrm>
          <a:prstGeom prst="roundRect">
            <a:avLst>
              <a:gd name="adj" fmla="val 8000"/>
            </a:avLst>
          </a:prstGeom>
          <a:solidFill>
            <a:srgbClr val="F1EBF7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2322576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對內部署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4086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智庫守護者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4320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公司知識一個入口六大模組，讓對的人最快找到答案。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840480" y="3822191"/>
            <a:ext cx="640080" cy="274320"/>
          </a:xfrm>
          <a:prstGeom prst="rightArrow">
            <a:avLst/>
          </a:prstGeom>
          <a:solidFill>
            <a:srgbClr val="C9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17720" y="3474720"/>
            <a:ext cx="6766560" cy="1078992"/>
          </a:xfrm>
          <a:prstGeom prst="roundRect">
            <a:avLst>
              <a:gd name="adj" fmla="val 8000"/>
            </a:avLst>
          </a:prstGeom>
          <a:solidFill>
            <a:srgbClr val="F1EBF7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3602736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對外產品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2102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CorpMind 產品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023359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SaaS＋地端授權，資料不外洩，對外商轉主體。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840480" y="5102352"/>
            <a:ext cx="640080" cy="274320"/>
          </a:xfrm>
          <a:prstGeom prst="rightArrow">
            <a:avLst/>
          </a:prstGeom>
          <a:solidFill>
            <a:srgbClr val="C9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17720" y="4754880"/>
            <a:ext cx="6766560" cy="1078992"/>
          </a:xfrm>
          <a:prstGeom prst="roundRect">
            <a:avLst>
              <a:gd name="adj" fmla="val 8000"/>
            </a:avLst>
          </a:prstGeom>
          <a:solidFill>
            <a:srgbClr val="F1EBF7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4882896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個人版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90118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Personal KM Hub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30352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把散落的文件筆記，變成能對話的個人知識圖譜。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Next（Allen）：</a:t>
            </a:r>
            <a:r>
              <a:rPr sz="10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四組收斂為一份整合架構，核心以 CorpMind 為底，先交付對內版（智庫守護者），入口與個人版排後續；PUNK 併行資安審核。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A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301752"/>
            <a:ext cx="548640" cy="548640"/>
          </a:xfrm>
          <a:prstGeom prst="ellipse">
            <a:avLst/>
          </a:prstGeom>
          <a:solidFill>
            <a:srgbClr val="9C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"/>
            <a:ext cx="8503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觀察評估 · 待定去向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82296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尚未定案的 6 組（附一句話講解）；評估後再決定去向與 Owner，若導入仍需 PUNK 簽核。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532120" cy="4937760"/>
          </a:xfrm>
          <a:prstGeom prst="roundRect">
            <a:avLst>
              <a:gd name="adj" fmla="val 5000"/>
            </a:avLst>
          </a:prstGeom>
          <a:solidFill>
            <a:srgbClr val="E9F3F0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532120" cy="658368"/>
          </a:xfrm>
          <a:prstGeom prst="roundRect">
            <a:avLst>
              <a:gd name="adj" fmla="val 5000"/>
            </a:avLst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51663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內部候選（3）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31720"/>
            <a:ext cx="507492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96312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PDC木奉木奉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98648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報價、文件歸檔、銷售洞察三合一，自動化業務每週雜工。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630168"/>
            <a:ext cx="507492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794759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三色豆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97096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訊息智慧降噪，只把重要的推到 LINE，告別告警疲勞。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928616"/>
            <a:ext cx="507492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093207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我帶著工程師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495544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把學 Python 變成 RPG 闖關，打 Boss 學會核心概念。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6792" y="1417320"/>
            <a:ext cx="5532120" cy="4937760"/>
          </a:xfrm>
          <a:prstGeom prst="roundRect">
            <a:avLst>
              <a:gd name="adj" fmla="val 5000"/>
            </a:avLst>
          </a:prstGeom>
          <a:solidFill>
            <a:srgbClr val="EAF0FA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1417320"/>
            <a:ext cx="5532120" cy="658368"/>
          </a:xfrm>
          <a:prstGeom prst="roundRect">
            <a:avLst>
              <a:gd name="adj" fmla="val 5000"/>
            </a:avLst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1490472"/>
            <a:ext cx="51663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產品候選（3）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65392" y="2331720"/>
            <a:ext cx="507492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93992" y="2496312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招兵買馬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3992" y="2898648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把一封封履歷變成滑卡，主管一個手勢完成初篩。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65392" y="3630168"/>
            <a:ext cx="507492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3794759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小理專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4197096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開完會自動生出摘要、待辦與決策，直送管理中心。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65392" y="4928616"/>
            <a:ext cx="507492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93992" y="5093207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通知超人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3992" y="5495544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AI 通知守門員，只在重要時打擾你、敏感資料自動遮蔽。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後續評估與優化重點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這三組的具體後續行動，Owner 保留待指派。其餘觀察組滾動評估。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72768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FAF3E3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19072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PDC木奉木奉小隊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121408"/>
            <a:ext cx="7589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🔥 人氣王 ｜ 隊長 江釗杰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423160"/>
            <a:ext cx="7589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本次人氣票數最高。目前完成度約 70%，接下來 30% 繼續優化、把功能做完整。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865376"/>
            <a:ext cx="251460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1956816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Owner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2249424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＿＿＿（待指派）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54096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E9F3F0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00400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我帶著工程師的頭銜回來了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602736"/>
            <a:ext cx="7589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隊長 吳佳珊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904487"/>
            <a:ext cx="7589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評估用於 HR 教育訓練——把 RPG 闖關學習用在新人與同仁的 AI 學習上。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3346703"/>
            <a:ext cx="251460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3438144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3730752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＿＿＿（待指派）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535424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681728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招兵買馬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5084064"/>
            <a:ext cx="7589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隊長 許智堯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385816"/>
            <a:ext cx="7589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請 HR 級主管評估是否有實際使用價值，再決定是否導入或產品化。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4828032"/>
            <a:ext cx="251460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32520" y="4919472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Owner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521208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＿＿＿（待指派）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資安治理框架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流程優化與產品化都一樣：每個項目上線前，走完五項資安確認並由 PUNK 簽核。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95360" y="1554480"/>
            <a:ext cx="2926080" cy="1920240"/>
          </a:xfrm>
          <a:prstGeom prst="roundRect">
            <a:avLst>
              <a:gd name="adj" fmla="val 10000"/>
            </a:avLst>
          </a:prstGeom>
          <a:solidFill>
            <a:srgbClr val="FAF0EF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38360" y="1783080"/>
            <a:ext cx="640080" cy="640080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25146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資安審核 Owner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283464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C0504D"/>
                </a:solidFill>
                <a:latin typeface="Microsoft JhengHei"/>
                <a:ea typeface="Microsoft JhengHei"/>
                <a:cs typeface="Microsoft JhengHei"/>
              </a:rPr>
              <a:t>PUNK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737360"/>
            <a:ext cx="457200" cy="457200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1691640"/>
            <a:ext cx="6858000" cy="749808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1783080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滲透測試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12264"/>
            <a:ext cx="6583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上線前對系統做滲透測試與弱點掃描。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633472"/>
            <a:ext cx="457200" cy="457200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2587752"/>
            <a:ext cx="6858000" cy="749808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2679192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權限/角色稽核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008376"/>
            <a:ext cx="6583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最小權限、角色分級，操作全程留稽核 log。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3529584"/>
            <a:ext cx="457200" cy="457200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5880" y="3483864"/>
            <a:ext cx="6858000" cy="749808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3575304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PII 遮蔽驗證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904488"/>
            <a:ext cx="6583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OTP、卡號、身分證等敏感資料送 AI 前自動遮蔽。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4425696"/>
            <a:ext cx="457200" cy="457200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25880" y="4379976"/>
            <a:ext cx="6858000" cy="749808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4471416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私有端點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800600"/>
            <a:ext cx="6583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LLM 走地端或 Azure OpenAI 私有端點，資料不外送。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5321807"/>
            <a:ext cx="457200" cy="457200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25880" y="5276088"/>
            <a:ext cx="6858000" cy="749808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8760" y="5367527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PUNK 簽核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696712"/>
            <a:ext cx="6583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以上完成後由 PUNK 簽核，才可正式上線。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657600"/>
            <a:ext cx="292608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適用範圍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流程優化（10）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平台模組（4）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KM 產品（4）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觀察若導入（6）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＝全部 24 組上線前都要簽核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Owner 分工與時程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各自認領範圍，資安橫向由 PUNK 把關。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532120" cy="1417320"/>
          </a:xfrm>
          <a:prstGeom prst="roundRect">
            <a:avLst>
              <a:gd name="adj" fmla="val 7000"/>
            </a:avLst>
          </a:prstGeom>
          <a:solidFill>
            <a:srgbClr val="E9F3F0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856232"/>
            <a:ext cx="566928" cy="566928"/>
          </a:xfrm>
          <a:prstGeom prst="ellipse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728216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流程優化（10 組）</a:t>
            </a:r>
          </a:p>
          <a:p>
            <a:pPr algn="l">
              <a:spcBef>
                <a:spcPts val="100"/>
              </a:spcBef>
            </a:pPr>
            <a:r>
              <a:rPr sz="10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Owner：RAE·IAN·GIBBY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350008"/>
            <a:ext cx="4434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立即導入 6 組先上；4 組內部觀察評估後導入；並研究佈署/權限/市場。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00200"/>
            <a:ext cx="5532120" cy="1417320"/>
          </a:xfrm>
          <a:prstGeom prst="roundRect">
            <a:avLst>
              <a:gd name="adj" fmla="val 7000"/>
            </a:avLst>
          </a:prstGeom>
          <a:solidFill>
            <a:srgbClr val="EAF0FA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37960" y="1856232"/>
            <a:ext cx="566928" cy="566928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1728216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中小企業 AI 平台</a:t>
            </a:r>
          </a:p>
          <a:p>
            <a:pPr algn="l">
              <a:spcBef>
                <a:spcPts val="100"/>
              </a:spcBef>
            </a:pPr>
            <a:r>
              <a:rPr sz="100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Owner：WIND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350008"/>
            <a:ext cx="4434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定平台架構＋2 明星模組 Demo，找 2–3 家中小企業試點。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82112"/>
            <a:ext cx="5532120" cy="1417320"/>
          </a:xfrm>
          <a:prstGeom prst="roundRect">
            <a:avLst>
              <a:gd name="adj" fmla="val 7000"/>
            </a:avLst>
          </a:prstGeom>
          <a:solidFill>
            <a:srgbClr val="F1EBF7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59" y="3438144"/>
            <a:ext cx="566928" cy="566928"/>
          </a:xfrm>
          <a:prstGeom prst="ellipse">
            <a:avLst/>
          </a:prstGeom>
          <a:solidFill>
            <a:srgbClr val="6A3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31012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KM 整合產品</a:t>
            </a:r>
          </a:p>
          <a:p>
            <a:pPr algn="l">
              <a:spcBef>
                <a:spcPts val="100"/>
              </a:spcBef>
            </a:pPr>
            <a:r>
              <a:rPr sz="1000" b="1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Owner：Allen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931920"/>
            <a:ext cx="4434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四組收斂為一套引擎，先交付對內版（智庫守護者）。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182112"/>
            <a:ext cx="5532120" cy="1417320"/>
          </a:xfrm>
          <a:prstGeom prst="roundRect">
            <a:avLst>
              <a:gd name="adj" fmla="val 7000"/>
            </a:avLst>
          </a:prstGeom>
          <a:solidFill>
            <a:srgbClr val="FAF0EF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37960" y="3438144"/>
            <a:ext cx="566928" cy="566928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31012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資安審核（橫向）</a:t>
            </a:r>
          </a:p>
          <a:p>
            <a:pPr algn="l">
              <a:spcBef>
                <a:spcPts val="100"/>
              </a:spcBef>
            </a:pPr>
            <a:r>
              <a:rPr sz="1000" b="1">
                <a:solidFill>
                  <a:srgbClr val="C0504D"/>
                </a:solidFill>
                <a:latin typeface="Microsoft JhengHei"/>
                <a:ea typeface="Microsoft JhengHei"/>
                <a:cs typeface="Microsoft JhengHei"/>
              </a:rPr>
              <a:t>Owner：PUNK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931920"/>
            <a:ext cx="4434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建立五項資安確認流程，逐案簽核後才上線。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09160"/>
            <a:ext cx="10908792" cy="16002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983480"/>
            <a:ext cx="457200" cy="457200"/>
          </a:xfrm>
          <a:prstGeom prst="ellipse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9377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近期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32120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7D0E8"/>
                </a:solidFill>
                <a:latin typeface="Microsoft JhengHei"/>
                <a:ea typeface="Microsoft JhengHei"/>
                <a:cs typeface="Microsoft JhengHei"/>
              </a:rPr>
              <a:t>內部立即導入 6 組上線；KM 收斂架構；資安流程建立。</a:t>
            </a:r>
          </a:p>
        </p:txBody>
      </p:sp>
      <p:sp>
        <p:nvSpPr>
          <p:cNvPr id="24" name="Oval 23"/>
          <p:cNvSpPr/>
          <p:nvPr/>
        </p:nvSpPr>
        <p:spPr>
          <a:xfrm>
            <a:off x="4526280" y="4983480"/>
            <a:ext cx="457200" cy="457200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3208" y="49377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中期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5532120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7D0E8"/>
                </a:solidFill>
                <a:latin typeface="Microsoft JhengHei"/>
                <a:ea typeface="Microsoft JhengHei"/>
                <a:cs typeface="Microsoft JhengHei"/>
              </a:rPr>
              <a:t>內部研究佈署/權限/市場並導入觀察組；平台明星模組 Demo；KM 對內版上線。</a:t>
            </a:r>
          </a:p>
        </p:txBody>
      </p:sp>
      <p:sp>
        <p:nvSpPr>
          <p:cNvPr id="27" name="Oval 26"/>
          <p:cNvSpPr/>
          <p:nvPr/>
        </p:nvSpPr>
        <p:spPr>
          <a:xfrm>
            <a:off x="8138160" y="4983480"/>
            <a:ext cx="457200" cy="457200"/>
          </a:xfrm>
          <a:prstGeom prst="ellipse">
            <a:avLst/>
          </a:prstGeom>
          <a:solidFill>
            <a:srgbClr val="6A3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05088" y="49377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後續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5532120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7D0E8"/>
                </a:solidFill>
                <a:latin typeface="Microsoft JhengHei"/>
                <a:ea typeface="Microsoft JhengHei"/>
                <a:cs typeface="Microsoft JhengHei"/>
              </a:rPr>
              <a:t>平台找客戶試點；對外 CorpMind 產品；觀察 6 組陸續定案。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接下來五件事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554480"/>
            <a:ext cx="502920" cy="502920"/>
          </a:xfrm>
          <a:prstGeom prst="ellipse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00200" y="1536192"/>
            <a:ext cx="7589520" cy="658368"/>
          </a:xfrm>
          <a:prstGeom prst="roundRect">
            <a:avLst>
              <a:gd name="adj" fmla="val 12000"/>
            </a:avLst>
          </a:prstGeom>
          <a:solidFill>
            <a:srgbClr val="26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09344"/>
            <a:ext cx="7132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流程優化：立即導入 6 組上線試營運，同步研究佈署/權限/市場（RAE·IAN·GIBBY）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1655064"/>
            <a:ext cx="1993392" cy="457200"/>
          </a:xfrm>
          <a:prstGeom prst="roundRect">
            <a:avLst>
              <a:gd name="adj" fmla="val 50000"/>
            </a:avLst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0" y="1673352"/>
            <a:ext cx="19933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本季 Q3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377440"/>
            <a:ext cx="502920" cy="502920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00200" y="2359152"/>
            <a:ext cx="7589520" cy="658368"/>
          </a:xfrm>
          <a:prstGeom prst="roundRect">
            <a:avLst>
              <a:gd name="adj" fmla="val 12000"/>
            </a:avLst>
          </a:prstGeom>
          <a:solidFill>
            <a:srgbClr val="26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2432304"/>
            <a:ext cx="7132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KM 四組收斂為一套引擎，先出對內版（Allen）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2478024"/>
            <a:ext cx="1993392" cy="457200"/>
          </a:xfrm>
          <a:prstGeom prst="roundRect">
            <a:avLst>
              <a:gd name="adj" fmla="val 50000"/>
            </a:avLst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2496312"/>
            <a:ext cx="19933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Q3 啟動·Q4 上線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200400"/>
            <a:ext cx="502920" cy="502920"/>
          </a:xfrm>
          <a:prstGeom prst="ellipse">
            <a:avLst/>
          </a:prstGeom>
          <a:solidFill>
            <a:srgbClr val="6A3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00200" y="3182112"/>
            <a:ext cx="7589520" cy="658368"/>
          </a:xfrm>
          <a:prstGeom prst="roundRect">
            <a:avLst>
              <a:gd name="adj" fmla="val 12000"/>
            </a:avLst>
          </a:prstGeom>
          <a:solidFill>
            <a:srgbClr val="26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3255264"/>
            <a:ext cx="7132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平台定架構＋2 明星模組 Demo，找中小企業試點（WIND）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3300984"/>
            <a:ext cx="1993392" cy="457200"/>
          </a:xfrm>
          <a:prstGeom prst="roundRect">
            <a:avLst>
              <a:gd name="adj" fmla="val 50000"/>
            </a:avLst>
          </a:prstGeom>
          <a:solidFill>
            <a:srgbClr val="6A3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3319272"/>
            <a:ext cx="19933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Q4 Demo·Q1 試點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4023360"/>
            <a:ext cx="502920" cy="502920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00200" y="4005072"/>
            <a:ext cx="7589520" cy="658368"/>
          </a:xfrm>
          <a:prstGeom prst="roundRect">
            <a:avLst>
              <a:gd name="adj" fmla="val 12000"/>
            </a:avLst>
          </a:prstGeom>
          <a:solidFill>
            <a:srgbClr val="26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4078224"/>
            <a:ext cx="7132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建立五項資安確認流程，逐案簽核（PUNK）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4123944"/>
            <a:ext cx="1993392" cy="457200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4142232"/>
            <a:ext cx="19933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即刻·隨案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4846320"/>
            <a:ext cx="502920" cy="502920"/>
          </a:xfrm>
          <a:prstGeom prst="ellipse">
            <a:avLst/>
          </a:prstGeom>
          <a:solidFill>
            <a:srgbClr val="9C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00200" y="4828032"/>
            <a:ext cx="7589520" cy="658368"/>
          </a:xfrm>
          <a:prstGeom prst="roundRect">
            <a:avLst>
              <a:gd name="adj" fmla="val 12000"/>
            </a:avLst>
          </a:prstGeom>
          <a:solidFill>
            <a:srgbClr val="26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4901184"/>
            <a:ext cx="7132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 組流程優化觀察＋6 組觀察評估，排時程陸續定案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4946904"/>
            <a:ext cx="1993392" cy="457200"/>
          </a:xfrm>
          <a:prstGeom prst="roundRect">
            <a:avLst>
              <a:gd name="adj" fmla="val 50000"/>
            </a:avLst>
          </a:prstGeom>
          <a:solidFill>
            <a:srgbClr val="9C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4965192"/>
            <a:ext cx="19933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Q4 起滾動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7FE3D4"/>
                </a:solidFill>
                <a:latin typeface="Microsoft JhengHei"/>
                <a:ea typeface="Microsoft JhengHei"/>
                <a:cs typeface="Microsoft JhengHei"/>
              </a:rPr>
              <a:t>敢想，就能 Run。</a:t>
            </a:r>
            <a:r>
              <a:rPr sz="1300" b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　把黑客松成果，變成公司真的在用的東西。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各組隊長一覽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24 組 · 每組隊長，依去向分類。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2724912" cy="5074920"/>
          </a:xfrm>
          <a:prstGeom prst="roundRect">
            <a:avLst>
              <a:gd name="adj" fmla="val 5000"/>
            </a:avLst>
          </a:prstGeom>
          <a:solidFill>
            <a:srgbClr val="E9F3F0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2724912" cy="530352"/>
          </a:xfrm>
          <a:prstGeom prst="roundRect">
            <a:avLst>
              <a:gd name="adj" fmla="val 5000"/>
            </a:avLst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508760"/>
            <a:ext cx="2468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流程優化（10）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148840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Felina  </a:t>
            </a:r>
            <a:r>
              <a:rPr sz="950" b="0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· 羅文財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564892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出納實驗室  </a:t>
            </a:r>
            <a:r>
              <a:rPr sz="950" b="0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· 邱暐玲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980944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DIU.gain  </a:t>
            </a:r>
            <a:r>
              <a:rPr sz="950" b="0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· 古鴻澤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3396996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三薪二億  </a:t>
            </a:r>
            <a:r>
              <a:rPr sz="950" b="0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· 鄭宇真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3813048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揪 Together  </a:t>
            </a:r>
            <a:r>
              <a:rPr sz="950" b="0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· 游佩宣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4229100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10萬碳長  </a:t>
            </a:r>
            <a:r>
              <a:rPr sz="950" b="0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· 麥育豪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645152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四娘教子  </a:t>
            </a:r>
            <a:r>
              <a:rPr sz="950" b="0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· 彭子育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5061204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Log分析助理  </a:t>
            </a:r>
            <a:r>
              <a:rPr sz="950" b="0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· 張渝閎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5477256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票交覺醒者  </a:t>
            </a:r>
            <a:r>
              <a:rPr sz="950" b="0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· 張靖嫆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5893308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我是助理凱粒  </a:t>
            </a:r>
            <a:r>
              <a:rPr sz="950" b="0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· 吳佳珊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47287" y="1463040"/>
            <a:ext cx="2724912" cy="5074920"/>
          </a:xfrm>
          <a:prstGeom prst="roundRect">
            <a:avLst>
              <a:gd name="adj" fmla="val 5000"/>
            </a:avLst>
          </a:prstGeom>
          <a:solidFill>
            <a:srgbClr val="EAF0FA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47287" y="1463040"/>
            <a:ext cx="2724912" cy="530352"/>
          </a:xfrm>
          <a:prstGeom prst="roundRect">
            <a:avLst>
              <a:gd name="adj" fmla="val 5000"/>
            </a:avLst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3591" y="1508760"/>
            <a:ext cx="2468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平台（4）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79" y="2148840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A²PE  </a:t>
            </a:r>
            <a:r>
              <a:rPr sz="950" b="0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· 胡慧婕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79" y="2564892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好事成雙  </a:t>
            </a:r>
            <a:r>
              <a:rPr sz="950" b="0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· 張嫻芳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79" y="2980944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DIUDIU  </a:t>
            </a:r>
            <a:r>
              <a:rPr sz="950" b="0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· 鄭絲睿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79" y="3396996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快報開麥拉  </a:t>
            </a:r>
            <a:r>
              <a:rPr sz="950" b="0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· 張柏珩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4496" y="1463040"/>
            <a:ext cx="2724912" cy="5074920"/>
          </a:xfrm>
          <a:prstGeom prst="roundRect">
            <a:avLst>
              <a:gd name="adj" fmla="val 5000"/>
            </a:avLst>
          </a:prstGeom>
          <a:solidFill>
            <a:srgbClr val="F1EBF7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54496" y="1463040"/>
            <a:ext cx="2724912" cy="530352"/>
          </a:xfrm>
          <a:prstGeom prst="roundRect">
            <a:avLst>
              <a:gd name="adj" fmla="val 5000"/>
            </a:avLst>
          </a:prstGeom>
          <a:solidFill>
            <a:srgbClr val="6A3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508760"/>
            <a:ext cx="2468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KM 產品（4）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2148840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CorpMind  </a:t>
            </a:r>
            <a:r>
              <a:rPr sz="950" b="0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· 楊智惟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2564892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智庫守護者  </a:t>
            </a:r>
            <a:r>
              <a:rPr sz="950" b="0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· 高聖翔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2980944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我要10萬  </a:t>
            </a:r>
            <a:r>
              <a:rPr sz="950" b="0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· 方翊宸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3396996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Personal KM  </a:t>
            </a:r>
            <a:r>
              <a:rPr sz="950" b="0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· 高卡納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61704" y="1463040"/>
            <a:ext cx="2724912" cy="5074920"/>
          </a:xfrm>
          <a:prstGeom prst="roundRect">
            <a:avLst>
              <a:gd name="adj" fmla="val 5000"/>
            </a:avLst>
          </a:prstGeom>
          <a:solidFill>
            <a:srgbClr val="FAF3E3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061704" y="1463040"/>
            <a:ext cx="2724912" cy="530352"/>
          </a:xfrm>
          <a:prstGeom prst="roundRect">
            <a:avLst>
              <a:gd name="adj" fmla="val 5000"/>
            </a:avLst>
          </a:prstGeom>
          <a:solidFill>
            <a:srgbClr val="9C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08008" y="1508760"/>
            <a:ext cx="2468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觀察評估（6）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26296" y="2148840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我帶著工程師  </a:t>
            </a:r>
            <a:r>
              <a:rPr sz="950" b="0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· 吳佳珊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6296" y="2564892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PDC木奉木奉  </a:t>
            </a:r>
            <a:r>
              <a:rPr sz="950" b="0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· 江釗杰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6296" y="2980944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招兵買馬  </a:t>
            </a:r>
            <a:r>
              <a:rPr sz="950" b="0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· 許智堯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26296" y="3396996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三色豆  </a:t>
            </a:r>
            <a:r>
              <a:rPr sz="950" b="0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· 蔡宸豪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26296" y="3813048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小理專  </a:t>
            </a:r>
            <a:r>
              <a:rPr sz="950" b="0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· 劉孟函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26296" y="4229100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通知超人  </a:t>
            </a:r>
            <a:r>
              <a:rPr sz="950" b="0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· 江村志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61991" y="1828800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528919" y="1828800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5847" y="1828800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6A3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62775" y="1828800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9C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628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凝聚創意 · 放大能量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429000"/>
            <a:ext cx="94484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不是為了做而做——把好創意與同仁的每一分能量，一起凝聚、最大化。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94484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FB3E8"/>
                </a:solidFill>
                <a:latin typeface="Microsoft JhengHei"/>
                <a:ea typeface="Microsoft JhengHei"/>
                <a:cs typeface="Microsoft JhengHei"/>
              </a:rPr>
              <a:t>不論是流程優化，還是產品孵化。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66360"/>
            <a:ext cx="10362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7FE3D4"/>
                </a:solidFill>
                <a:latin typeface="Microsoft JhengHei"/>
                <a:ea typeface="Microsoft JhengHei"/>
                <a:cs typeface="Microsoft JhengHei"/>
              </a:rPr>
              <a:t>感謝這次每一位參與的夥伴。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