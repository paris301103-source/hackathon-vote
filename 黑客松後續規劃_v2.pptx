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分佈</c:v>
                </c:pt>
              </c:strCache>
            </c:strRef>
          </c:tx>
          <c:dPt>
            <c:idx val="0"/>
            <c:spPr>
              <a:solidFill>
                <a:srgbClr val="0E7C6B"/>
              </a:solidFill>
            </c:spPr>
          </c:dPt>
          <c:dPt>
            <c:idx val="1"/>
            <c:spPr>
              <a:solidFill>
                <a:srgbClr val="2E5496"/>
              </a:solidFill>
            </c:spPr>
          </c:dPt>
          <c:dPt>
            <c:idx val="2"/>
            <c:spPr>
              <a:solidFill>
                <a:srgbClr val="6A3E9E"/>
              </a:solidFill>
            </c:spPr>
          </c:dPt>
          <c:dPt>
            <c:idx val="3"/>
            <c:spPr>
              <a:solidFill>
                <a:srgbClr val="9C6500"/>
              </a:solidFill>
            </c:spPr>
          </c:dPt>
          <c:cat>
            <c:strRef>
              <c:f>Sheet1!$A$2:$A$5</c:f>
              <c:strCache>
                <c:ptCount val="4"/>
                <c:pt idx="0">
                  <c:v>流程優化・產品孵化</c:v>
                </c:pt>
                <c:pt idx="1">
                  <c:v>平台</c:v>
                </c:pt>
                <c:pt idx="2">
                  <c:v>KM 產品</c:v>
                </c:pt>
                <c:pt idx="3">
                  <c:v>觀察評估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050">
              <a:latin typeface="Microsoft Jheng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601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310896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★ TOP PRIORITY · 全公司優先推動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605332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89888" y="605332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56816" y="605332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23744" y="605332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FB3E8"/>
                </a:solidFill>
                <a:latin typeface="Microsoft JhengHei"/>
                <a:ea typeface="Microsoft JhengHei"/>
                <a:cs typeface="Microsoft JhengHei"/>
              </a:rPr>
              <a:t>北祥黑客松 2026 · 後續佈局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24 組作品　商轉分流計畫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4290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Client Zero：北祥自己先用起來，再對外推　·　每組明列 做什麼／Owner／幾月產出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069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敢想，就能 Run。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00600"/>
            <a:ext cx="3291840" cy="731520"/>
          </a:xfrm>
          <a:prstGeom prst="roundRect">
            <a:avLst>
              <a:gd name="adj" fmla="val 16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974336"/>
            <a:ext cx="384048" cy="384048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4919472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EBBDD"/>
                </a:solidFill>
                <a:latin typeface="Microsoft JhengHei"/>
                <a:ea typeface="Microsoft JhengHei"/>
                <a:cs typeface="Microsoft JhengHei"/>
              </a:rPr>
              <a:t>流程優化・產品孵化</a:t>
            </a:r>
          </a:p>
          <a:p>
            <a:pPr algn="l">
              <a:spcBef>
                <a:spcPts val="100"/>
              </a:spcBef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RAE·IAN·GIBBY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4800600"/>
            <a:ext cx="2194560" cy="731520"/>
          </a:xfrm>
          <a:prstGeom prst="roundRect">
            <a:avLst>
              <a:gd name="adj" fmla="val 16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1688" y="4974336"/>
            <a:ext cx="384048" cy="384048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919472"/>
            <a:ext cx="15361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EBBDD"/>
                </a:solidFill>
                <a:latin typeface="Microsoft JhengHei"/>
                <a:ea typeface="Microsoft JhengHei"/>
                <a:cs typeface="Microsoft JhengHei"/>
              </a:rPr>
              <a:t>中小企業 AI 平台</a:t>
            </a:r>
          </a:p>
          <a:p>
            <a:pPr algn="l">
              <a:spcBef>
                <a:spcPts val="100"/>
              </a:spcBef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WIND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8816" y="4800600"/>
            <a:ext cx="2788920" cy="731520"/>
          </a:xfrm>
          <a:prstGeom prst="roundRect">
            <a:avLst>
              <a:gd name="adj" fmla="val 16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65976" y="4974336"/>
            <a:ext cx="384048" cy="384048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4919472"/>
            <a:ext cx="2130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EBBDD"/>
                </a:solidFill>
                <a:latin typeface="Microsoft JhengHei"/>
                <a:ea typeface="Microsoft JhengHei"/>
                <a:cs typeface="Microsoft JhengHei"/>
              </a:rPr>
              <a:t>KM 整合產品·完整智多Boom</a:t>
            </a:r>
          </a:p>
          <a:p>
            <a:pPr algn="l">
              <a:spcBef>
                <a:spcPts val="100"/>
              </a:spcBef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Allen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7464" y="4800600"/>
            <a:ext cx="1691640" cy="731520"/>
          </a:xfrm>
          <a:prstGeom prst="roundRect">
            <a:avLst>
              <a:gd name="adj" fmla="val 16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64624" y="4974336"/>
            <a:ext cx="384048" cy="384048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3536" y="4919472"/>
            <a:ext cx="1033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EBBDD"/>
                </a:solidFill>
                <a:latin typeface="Microsoft JhengHei"/>
                <a:ea typeface="Microsoft JhengHei"/>
                <a:cs typeface="Microsoft JhengHei"/>
              </a:rPr>
              <a:t>資安審核</a:t>
            </a:r>
          </a:p>
          <a:p>
            <a:pPr algn="l">
              <a:spcBef>
                <a:spcPts val="100"/>
              </a:spcBef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91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E8DB8"/>
                </a:solidFill>
                <a:latin typeface="Microsoft JhengHei"/>
                <a:ea typeface="Microsoft JhengHei"/>
                <a:cs typeface="Microsoft JhengHei"/>
              </a:rPr>
              <a:t>DIU 主導 · 結合各 Leader　｜　2026.07 · 清單不含評分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執行摘要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24 組分四大去向，各有 Owner、各有月度產出，全部上線前經 PUNK 資安審核。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2423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r>
              <a:rPr sz="15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  54%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6148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流程優化・產品孵化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828800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920240"/>
            <a:ext cx="2423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r>
              <a:rPr sz="15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  17%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76148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中小企業 AI 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828800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920240"/>
            <a:ext cx="2423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r>
              <a:rPr sz="15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  17%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76148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KM 整合產品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9136" y="1828800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6296" y="1920240"/>
            <a:ext cx="2423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r>
              <a:rPr sz="15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  13%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6296" y="276148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觀察評估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三個策略重點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014215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77639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整併避免打架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KM 類 4 組重疊高，整併為『一套引擎、三種面向』的產品線（智多Boom）。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4882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4632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產品用打包思維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On-Site／INTELLIGENT／哨兵／快報，包成一站式『中小企業 AI 平台』。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575157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71500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Client Zero 先用再推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北祥自己先用起來（個人→部門→全公司），驗證成效後再對外推出。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858000" y="3611880"/>
          <a:ext cx="46634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858000" y="32004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24 組分佈（佔比）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分流總覽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金銀銅＝名次 · ★佳作 · 人氣獎　|　</a:t>
            </a: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Owner：流程優化 RAE·IAN·GIBBY／平台 WIND／KM Allen／資安 PUNK（DIU 主導）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127248" cy="5166360"/>
          </a:xfrm>
          <a:prstGeom prst="roundRect">
            <a:avLst>
              <a:gd name="adj" fmla="val 4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127248" cy="713232"/>
          </a:xfrm>
          <a:prstGeom prst="roundRect">
            <a:avLst>
              <a:gd name="adj" fmla="val 4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8895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流程優化・產品孵化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EEF2F8"/>
                </a:solidFill>
                <a:latin typeface="Microsoft JhengHei"/>
                <a:ea typeface="Microsoft JhengHei"/>
                <a:cs typeface="Microsoft JhengHei"/>
              </a:rPr>
              <a:t>13 組 · RAE·IAN·GIBBY · DIU 主導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157984"/>
            <a:ext cx="2871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① 金銀銅＋立即導入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97556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Felina</a:t>
            </a:r>
            <a:r>
              <a:rPr sz="8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  金賞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662732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出納實驗室</a:t>
            </a:r>
            <a:r>
              <a:rPr sz="8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  銀賞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27908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DIU.gain(100000)</a:t>
            </a:r>
            <a:r>
              <a:rPr sz="8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  銅賞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193084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三薪二億</a:t>
            </a:r>
            <a:r>
              <a:rPr sz="8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  ★佳作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458260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揪 Together</a:t>
            </a:r>
            <a:r>
              <a:rPr sz="8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 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723436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10萬碳長</a:t>
            </a:r>
            <a:r>
              <a:rPr sz="8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 ESG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988612"/>
            <a:ext cx="2871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2F7DB8"/>
                </a:solidFill>
                <a:latin typeface="Microsoft JhengHei"/>
                <a:ea typeface="Microsoft JhengHei"/>
                <a:cs typeface="Microsoft JhengHei"/>
              </a:rPr>
              <a:t>② 已在用 → 擴大（個人→部門→全公司）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228185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四娘教子</a:t>
            </a:r>
            <a:r>
              <a:rPr sz="8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  Julia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493361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Log分析助理</a:t>
            </a:r>
            <a:r>
              <a:rPr sz="8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  Bryan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758537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票交覺醒者</a:t>
            </a:r>
            <a:r>
              <a:rPr sz="8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  Jaguar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023713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我是助理凱粒</a:t>
            </a:r>
            <a:r>
              <a:rPr sz="8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  Julia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288889"/>
            <a:ext cx="2871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③ 得獎/人氣 · 優先用起來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528462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PDC木奉木奉</a:t>
            </a:r>
            <a:r>
              <a:rPr sz="8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  人氣獎 Andy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793638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招兵買馬</a:t>
            </a:r>
            <a:r>
              <a:rPr sz="8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  Julia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6058814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我帶著工程師的頭銜回來了</a:t>
            </a:r>
            <a:r>
              <a:rPr sz="8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  ★佳作 Justin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95344" y="1371600"/>
            <a:ext cx="2606040" cy="5166360"/>
          </a:xfrm>
          <a:prstGeom prst="roundRect">
            <a:avLst>
              <a:gd name="adj" fmla="val 4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95344" y="1371600"/>
            <a:ext cx="2606040" cy="713232"/>
          </a:xfrm>
          <a:prstGeom prst="roundRect">
            <a:avLst>
              <a:gd name="adj" fmla="val 4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32504" y="1417320"/>
            <a:ext cx="2368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中小企業 AI 平台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EEF2F8"/>
                </a:solidFill>
                <a:latin typeface="Microsoft JhengHei"/>
                <a:ea typeface="Microsoft JhengHei"/>
                <a:cs typeface="Microsoft JhengHei"/>
              </a:rPr>
              <a:t>4 組 · WIND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2157984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A²PE（On-Site）</a:t>
            </a:r>
            <a:r>
              <a:rPr sz="8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  佳作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1648" y="2423160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好事成雙（INTELLIGENT）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2688336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DIUDIU（哨兵）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1648" y="2953512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快報開麥拉</a:t>
            </a:r>
            <a:r>
              <a:rPr sz="8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  ★佳作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1371600"/>
            <a:ext cx="2606040" cy="5166360"/>
          </a:xfrm>
          <a:prstGeom prst="roundRect">
            <a:avLst>
              <a:gd name="adj" fmla="val 4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29400" y="1371600"/>
            <a:ext cx="2606040" cy="713232"/>
          </a:xfrm>
          <a:prstGeom prst="roundRect">
            <a:avLst>
              <a:gd name="adj" fmla="val 4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1417320"/>
            <a:ext cx="2368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KM 整合產品·完整智多Boom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EEF2F8"/>
                </a:solidFill>
                <a:latin typeface="Microsoft JhengHei"/>
                <a:ea typeface="Microsoft JhengHei"/>
                <a:cs typeface="Microsoft JhengHei"/>
              </a:rPr>
              <a:t>4 組 · Allen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2157984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CorpMind</a:t>
            </a:r>
            <a:r>
              <a:rPr sz="8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  核心引擎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5704" y="2423160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智庫守護者</a:t>
            </a:r>
            <a:r>
              <a:rPr sz="8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  ★佳作·對內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5704" y="2688336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我要10萬（Web-GPT）</a:t>
            </a:r>
            <a:r>
              <a:rPr sz="8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  入口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75704" y="2953512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Personal KM</a:t>
            </a:r>
            <a:r>
              <a:rPr sz="8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  個人版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63456" y="1371600"/>
            <a:ext cx="2606040" cy="5166360"/>
          </a:xfrm>
          <a:prstGeom prst="roundRect">
            <a:avLst>
              <a:gd name="adj" fmla="val 4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6" y="1371600"/>
            <a:ext cx="2606040" cy="713232"/>
          </a:xfrm>
          <a:prstGeom prst="roundRect">
            <a:avLst>
              <a:gd name="adj" fmla="val 4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0616" y="1417320"/>
            <a:ext cx="2368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觀察評估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EEF2F8"/>
                </a:solidFill>
                <a:latin typeface="Microsoft JhengHei"/>
                <a:ea typeface="Microsoft JhengHei"/>
                <a:cs typeface="Microsoft JhengHei"/>
              </a:rPr>
              <a:t>3 組 · 待指派追蹤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2157984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三色豆</a:t>
            </a:r>
            <a:r>
              <a:rPr sz="8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 待追蹤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2423160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小理專</a:t>
            </a:r>
            <a:r>
              <a:rPr sz="8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 待追蹤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2688336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通知超人</a:t>
            </a:r>
            <a:r>
              <a:rPr sz="8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 待追蹤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9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01752"/>
            <a:ext cx="548640" cy="54864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流程優化・產品孵化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2296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 組 · DIU 主導 · Client Zero：北祥自己先用（個人→部門→全公司）。資安：PUNK。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04020" y="347472"/>
            <a:ext cx="2244852" cy="502920"/>
          </a:xfrm>
          <a:prstGeom prst="roundRect">
            <a:avLst>
              <a:gd name="adj" fmla="val 2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04020" y="402336"/>
            <a:ext cx="22448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Owner：RAE·IAN·GIBBY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5532120" cy="4572000"/>
          </a:xfrm>
          <a:prstGeom prst="roundRect">
            <a:avLst>
              <a:gd name="adj" fmla="val 5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① 金銀銅＋立即導入（6）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Felina</a:t>
            </a:r>
            <a:r>
              <a:rPr sz="85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  金賞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9432" y="180136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10512"/>
            <a:ext cx="128016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RAE·IAN·GIBBY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5166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集中管理各 AI 工具的設定與技能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41448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出納實驗室</a:t>
            </a:r>
            <a:r>
              <a:rPr sz="85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  銀賞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2" y="245973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468879"/>
            <a:ext cx="128016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RAE·IAN·GIBBY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5166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現金流三視角整合成單一來源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99815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DIU.gain(100000)</a:t>
            </a:r>
            <a:r>
              <a:rPr sz="85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  銅賞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9432" y="3118103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3127247"/>
            <a:ext cx="128016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RAE·IAN·GIBBY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01568"/>
            <a:ext cx="5166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自然語言查 ERP，AI 只建草稿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58183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三薪二億</a:t>
            </a:r>
            <a:r>
              <a:rPr sz="85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  ★佳作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99432" y="3776471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3785615"/>
            <a:ext cx="128016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RAE·IAN·GIBBY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59935"/>
            <a:ext cx="5166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簽核前自動檢核單據遺漏與金額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416551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揪 Together</a:t>
            </a:r>
            <a:r>
              <a:rPr sz="8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 HR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99432" y="4434839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4443983"/>
            <a:ext cx="128016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RAE·IAN·GIBBY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18303"/>
            <a:ext cx="5166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興趣標籤促進跨部門交流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74919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10萬碳長</a:t>
            </a:r>
            <a:r>
              <a:rPr sz="8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 ESG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99432" y="5093207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5102351"/>
            <a:ext cx="128016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RAE·IAN·GIBBY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76671"/>
            <a:ext cx="5166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ESG 財會自動化、財報轉 GRI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1298448"/>
            <a:ext cx="5440680" cy="2542032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1417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② 已在用 → 擴大範圍（4）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1792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四娘教子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2720" y="1801368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1810512"/>
            <a:ext cx="117043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Julia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2066543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採購倉儲盤點自動化 3 小時→5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23088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Log分析助理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32720" y="2318003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20" y="2327147"/>
            <a:ext cx="117043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Bryan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2583179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用聊天快速分析跨系統 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2825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票交覺醒者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32720" y="2834639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0" y="2843783"/>
            <a:ext cx="117043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Jaguar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3099815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給 AI 裝上票交所大腦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33421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我是助理凱粒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32720" y="3351275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0" y="3360419"/>
            <a:ext cx="117043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Julia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2512" y="3616451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AI 自動核對工時、抓掛錯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9632" y="3950208"/>
            <a:ext cx="5440680" cy="1920240"/>
          </a:xfrm>
          <a:prstGeom prst="roundRect">
            <a:avLst>
              <a:gd name="adj" fmla="val 5000"/>
            </a:avLst>
          </a:prstGeom>
          <a:solidFill>
            <a:srgbClr val="FBF3DF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82512" y="40599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③ 得獎/人氣 · 優先用起來（3）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2512" y="44074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PDC木奉木奉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46920" y="4416552"/>
            <a:ext cx="1856231" cy="256032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46920" y="4425696"/>
            <a:ext cx="1856231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人氣獎 · Andy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2512" y="468172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報價/歸檔/銷售洞察三合一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2512" y="48646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招兵買馬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46920" y="4873752"/>
            <a:ext cx="1856231" cy="256032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46920" y="4882896"/>
            <a:ext cx="1856231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Julia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82512" y="513892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履歷變滑卡、一手勢初篩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82512" y="53218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我帶著工程師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46920" y="5330952"/>
            <a:ext cx="1856231" cy="256032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46920" y="5340096"/>
            <a:ext cx="1856231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★佳作 · Justin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82512" y="559612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5606E"/>
                </a:solidFill>
                <a:latin typeface="Microsoft JhengHei"/>
                <a:ea typeface="Microsoft JhengHei"/>
                <a:cs typeface="Microsoft JhengHei"/>
              </a:rPr>
              <a:t>RPG 闖關學 Python，遊戲化學習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989320"/>
            <a:ext cx="11091672" cy="65836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6062472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時程　</a:t>
            </a: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7月（本月）個人/單機先用 → 8月 部門推廣 → 9月 全公司看成效 → 10月起 持續優化；得獎/人氣組本月即優先用。每項 Owner 每日追蹤、每週回報。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流程優化・產品孵化 導入計劃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交付：RAE · IAN · GIBBY（DIU 主導）｜ 資安：PUNK。Client Zero 先用，並同步研究三件事把導入做穩、做大。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908792" cy="868680"/>
          </a:xfrm>
          <a:prstGeom prst="roundRect">
            <a:avLst>
              <a:gd name="adj" fmla="val 8000"/>
            </a:avLst>
          </a:prstGeom>
          <a:solidFill>
            <a:srgbClr val="E9F3F0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755648"/>
            <a:ext cx="457200" cy="45720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本月·個人/單機先用</a:t>
            </a:r>
          </a:p>
        </p:txBody>
      </p:sp>
      <p:sp>
        <p:nvSpPr>
          <p:cNvPr id="7" name="Oval 6"/>
          <p:cNvSpPr/>
          <p:nvPr/>
        </p:nvSpPr>
        <p:spPr>
          <a:xfrm>
            <a:off x="3474720" y="1755648"/>
            <a:ext cx="457200" cy="45720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7373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跨部門導入</a:t>
            </a:r>
          </a:p>
        </p:txBody>
      </p:sp>
      <p:sp>
        <p:nvSpPr>
          <p:cNvPr id="9" name="Oval 8"/>
          <p:cNvSpPr/>
          <p:nvPr/>
        </p:nvSpPr>
        <p:spPr>
          <a:xfrm>
            <a:off x="6126479" y="1755648"/>
            <a:ext cx="457200" cy="45720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19" y="17373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全公司 + 市場評估</a:t>
            </a:r>
          </a:p>
        </p:txBody>
      </p:sp>
      <p:sp>
        <p:nvSpPr>
          <p:cNvPr id="11" name="Oval 10"/>
          <p:cNvSpPr/>
          <p:nvPr/>
        </p:nvSpPr>
        <p:spPr>
          <a:xfrm>
            <a:off x="8778240" y="1755648"/>
            <a:ext cx="457200" cy="45720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7373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檢視成效·擴大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3639312" cy="178308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7" y="2788920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834640"/>
            <a:ext cx="2724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佈署方式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401568"/>
            <a:ext cx="32278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內網或 Azure 私有租戶？容器化？與 ERP／SharePoint 的串接與同步機制。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4" y="2606040"/>
            <a:ext cx="3639312" cy="1783080"/>
          </a:xfrm>
          <a:prstGeom prst="roundRect">
            <a:avLst>
              <a:gd name="adj" fmla="val 8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5152" y="2788920"/>
            <a:ext cx="457200" cy="457200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834640"/>
            <a:ext cx="2724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權限規劃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01568"/>
            <a:ext cx="32278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角色分級、資料存取邊界、AI 動作邊界（只建草稿不過帳）、稽核 log。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2606040"/>
            <a:ext cx="3639312" cy="178308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49056" y="2788920"/>
            <a:ext cx="457200" cy="457200"/>
          </a:xfrm>
          <a:prstGeom prst="ellipse">
            <a:avLst/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834640"/>
            <a:ext cx="2724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市場規劃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401568"/>
            <a:ext cx="32278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哪些工具未來可對外商轉？先內部驗證成效與 ROI，再評估產品化。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72000"/>
            <a:ext cx="11000232" cy="1874519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行動 · Owner · 產出時間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20640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① 6 組個人/單機先用（本月啟動）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12064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RAE·IAN·GIBBY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5120640"/>
            <a:ext cx="1371600" cy="2468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5129783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381244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② 佈署/權限完成、跨部門使用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38124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DIU +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5381244"/>
            <a:ext cx="1371600" cy="2468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5390388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64184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③ 市場評估、決定可否商轉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64184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RAE·IAN·GIBBY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5641848"/>
            <a:ext cx="1371600" cy="2468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5650992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902452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④ 全公司導入、檢視成效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590245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各 Owner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5902452"/>
            <a:ext cx="1371600" cy="2468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0" y="5911596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6163056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⑤ 4 組擴大組同步推進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616305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Julia/Bryan/Jaguar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6163056"/>
            <a:ext cx="1371600" cy="2468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0" y="617220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7–8月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01752"/>
            <a:ext cx="548640" cy="54864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中小企業 AI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2296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模組化訂閱、按需開通；試點客戶＝北祥自己（Client Zero），由 DIU 同仁先行導入。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15016" y="347472"/>
            <a:ext cx="1133856" cy="502920"/>
          </a:xfrm>
          <a:prstGeom prst="roundRect">
            <a:avLst>
              <a:gd name="adj" fmla="val 2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5016" y="402336"/>
            <a:ext cx="11338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Owner：WIND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平台定位　</a:t>
            </a:r>
            <a:r>
              <a:rPr sz="11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中小企業沒有大 IT、沒預算買多套系統 —— 單一帳號＋模組化訂閱，讓中小企業真正用起 AI；另備地端版。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2011680"/>
            <a:ext cx="146304" cy="146304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56816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外勤服務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975104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984248"/>
            <a:ext cx="201168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先做 · 佳作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35915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A²PE（On-Site）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6517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外勤語音一句話，AI 生紀錄回寫 CRM。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28800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2011680"/>
            <a:ext cx="146304" cy="146304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956816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智慧業務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975104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1984248"/>
            <a:ext cx="201168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235915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好事成雙（INTELLIGENT）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6517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七視角業務、取代天價 CRM。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191256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" y="3374136"/>
            <a:ext cx="146304" cy="146304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31927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資安訓練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33375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0" y="3346704"/>
            <a:ext cx="201168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第二批接續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721608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DIUDIU（哨兵 Sentry）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01421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AI 生成詐騙情境、員工實戰演練。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191256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7960" y="3374136"/>
            <a:ext cx="146304" cy="146304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31927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市場情報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33375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3346704"/>
            <a:ext cx="201168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第二批 · 佳作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4536" y="3721608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快報開麥拉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4536" y="401421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新聞到短影音一條龍自動製播。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29200"/>
            <a:ext cx="3639312" cy="13716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120640"/>
            <a:ext cx="3319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佈署 · WIND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5559552"/>
            <a:ext cx="33192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多租戶（Azure）＋共用登入/計費/權限中台，各模組可獨立開通；另備地端版。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43984" y="5029200"/>
            <a:ext cx="3639312" cy="13716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26864" y="5120640"/>
            <a:ext cx="3319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0504D"/>
                </a:solidFill>
                <a:latin typeface="Microsoft JhengHei"/>
                <a:ea typeface="Microsoft JhengHei"/>
                <a:cs typeface="Microsoft JhengHei"/>
              </a:rPr>
              <a:t>測試 · James &amp; Rae｜資安 · PUNK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26864" y="5559552"/>
            <a:ext cx="33192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所有模組先由 DIU 同仁內部測試導入（Client Zero），再對外。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47888" y="5029200"/>
            <a:ext cx="3639312" cy="13716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7" y="5120640"/>
            <a:ext cx="3319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E7C6B"/>
                </a:solidFill>
                <a:latin typeface="Microsoft JhengHei"/>
                <a:ea typeface="Microsoft JhengHei"/>
                <a:cs typeface="Microsoft JhengHei"/>
              </a:rPr>
              <a:t>Next · 時程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7" y="5559552"/>
            <a:ext cx="33192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7月 架構啟動→8月 共用外殼→9月 2 模組 MVP＋Client Zero→10月 資安測試→Q4 對外試點。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平台建置流程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Owner：WIND｜六階段從架構到上架，標月份；每階段由 PUNK 資安確認才進下一步。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783080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架構規劃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81527" y="181965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1527" y="1828800"/>
            <a:ext cx="9144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5000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定架構、共用中台範圍，選定 2 個模組先做。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1783080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1783080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共用外殼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181965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828800"/>
            <a:ext cx="9144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35000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多租戶骨架＋SSO/計費/權限中台＋模組掛載。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60020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9" y="1783080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1783080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先做 2 模組 MVP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88167" y="181965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88167" y="1828800"/>
            <a:ext cx="9144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35000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A²PE On-Site＋好事成雙 智慧業務 做到可 Demo。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5468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59" y="3337560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337560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資安與測試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81527" y="33741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81527" y="3383280"/>
            <a:ext cx="9144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90448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PUNK 審核、滲透/壓測，DIU 同仁先行。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15468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26280" y="3337560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3208" y="3337560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北祥試點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84848" y="33741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3383280"/>
            <a:ext cx="9144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6" y="390448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Client Zero 先用、驗證，收內部回饋。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15468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599" y="3337560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3337560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擴充上架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88167" y="33741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88167" y="3383280"/>
            <a:ext cx="9144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5" y="3904488"/>
            <a:ext cx="30815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掛載哨兵/快報等模組＋地端版＋KM 入口。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029200"/>
            <a:ext cx="11000232" cy="1371600"/>
          </a:xfrm>
          <a:prstGeom prst="roundRect">
            <a:avLst>
              <a:gd name="adj" fmla="val 7000"/>
            </a:avLst>
          </a:prstGeom>
          <a:solidFill>
            <a:srgbClr val="FB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138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關鍵原則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50468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先做 2 個模組＝</a:t>
            </a:r>
            <a:r>
              <a:rPr sz="11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A²PE（On-Site，佳作）＋ 好事成雙（智慧業務）</a:t>
            </a:r>
            <a:r>
              <a:rPr sz="11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，試點客戶＝</a:t>
            </a:r>
            <a:r>
              <a:rPr sz="1100" b="1">
                <a:solidFill>
                  <a:srgbClr val="2E5496"/>
                </a:solidFill>
                <a:latin typeface="Microsoft JhengHei"/>
                <a:ea typeface="Microsoft JhengHei"/>
                <a:cs typeface="Microsoft JhengHei"/>
              </a:rPr>
              <a:t>北祥自己（Client Zero）</a:t>
            </a: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，由 DIU 同仁先行導入，做穩再擴充其餘模組與對外。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1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01752"/>
            <a:ext cx="548640" cy="548640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KM 整合產品・完整智多Boom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2296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四組整併為『一套核心引擎、三種面向』；CorpMind 原訂 7 月，先 Client Zero 試行。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91572" y="347472"/>
            <a:ext cx="1257300" cy="502920"/>
          </a:xfrm>
          <a:prstGeom prst="roundRect">
            <a:avLst>
              <a:gd name="adj" fmla="val 20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91572" y="402336"/>
            <a:ext cx="12573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Owner：Allen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2926080" cy="1508760"/>
          </a:xfrm>
          <a:prstGeom prst="roundRect">
            <a:avLst>
              <a:gd name="adj" fmla="val 8000"/>
            </a:avLst>
          </a:prstGeom>
          <a:solidFill>
            <a:srgbClr val="6A3E9E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7DDF3"/>
                </a:solidFill>
                <a:latin typeface="Microsoft JhengHei"/>
                <a:ea typeface="Microsoft JhengHei"/>
                <a:cs typeface="Microsoft JhengHei"/>
              </a:rPr>
              <a:t>核心引擎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1518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CorpMind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8C9EC"/>
                </a:solidFill>
                <a:latin typeface="Microsoft JhengHei"/>
                <a:ea typeface="Microsoft JhengHei"/>
                <a:cs typeface="Microsoft JhengHei"/>
              </a:rPr>
              <a:t>上傳文件即問即答、附來源、可地端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80"/>
            <a:ext cx="2926080" cy="685800"/>
          </a:xfrm>
          <a:prstGeom prst="roundRect">
            <a:avLst>
              <a:gd name="adj" fmla="val 10000"/>
            </a:avLst>
          </a:prstGeom>
          <a:solidFill>
            <a:srgbClr val="F1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04487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入口：我要10萬（Web-GPT）</a:t>
            </a:r>
          </a:p>
          <a:p>
            <a:pPr algn="ctr">
              <a:spcBef>
                <a:spcPts val="100"/>
              </a:spcBef>
            </a:pPr>
            <a:r>
              <a:rPr sz="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LINE Bot＋排程爬蟲每日更新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40480" y="2377440"/>
            <a:ext cx="594360" cy="256032"/>
          </a:xfrm>
          <a:prstGeom prst="rightArrow">
            <a:avLst/>
          </a:prstGeom>
          <a:solidFill>
            <a:srgbClr val="C9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2057400"/>
            <a:ext cx="6858000" cy="987552"/>
          </a:xfrm>
          <a:prstGeom prst="roundRect">
            <a:avLst>
              <a:gd name="adj" fmla="val 8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167128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對內部署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8541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智庫守護者（★佳作）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69464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一入口六模組內部平台；先上線。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40480" y="3566160"/>
            <a:ext cx="594360" cy="256032"/>
          </a:xfrm>
          <a:prstGeom prst="rightArrow">
            <a:avLst/>
          </a:prstGeom>
          <a:solidFill>
            <a:srgbClr val="C9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6858000" cy="987552"/>
          </a:xfrm>
          <a:prstGeom prst="roundRect">
            <a:avLst>
              <a:gd name="adj" fmla="val 8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355848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對外產品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37413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CorpMind 產品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58183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SaaS＋地端授權，對外商轉主體。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840480" y="4754879"/>
            <a:ext cx="594360" cy="256032"/>
          </a:xfrm>
          <a:prstGeom prst="rightArrow">
            <a:avLst/>
          </a:prstGeom>
          <a:solidFill>
            <a:srgbClr val="C9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26280" y="4434840"/>
            <a:ext cx="6858000" cy="987552"/>
          </a:xfrm>
          <a:prstGeom prst="roundRect">
            <a:avLst>
              <a:gd name="adj" fmla="val 8000"/>
            </a:avLst>
          </a:prstGeom>
          <a:solidFill>
            <a:srgbClr val="F1EBF7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544568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6A3E9E"/>
                </a:solidFill>
                <a:latin typeface="Microsoft JhengHei"/>
                <a:ea typeface="Microsoft JhengHei"/>
                <a:cs typeface="Microsoft JhengHei"/>
              </a:rPr>
              <a:t>個人版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562855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Personal KM 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946904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個人文件→知識圖譜可對話。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669280"/>
            <a:ext cx="11000232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7607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時程（Allen）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0899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7月起 CorpMind Client Zero 對內試（智庫守護者）→ 8月 對內版上線 → 9月 Web-GPT 入口＋個人版 → Q4 對外 CorpMind。PUNK 併行資安。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A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301752"/>
            <a:ext cx="548640" cy="548640"/>
          </a:xfrm>
          <a:prstGeom prst="ellipse">
            <a:avLst/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觀察評估 · 待定去向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2296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只剩 3 組；每組指定 Owner 每週追蹤跟進，不放生。評估後決定去向，導入仍需 PUNK 簽核。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602736" cy="41148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三色豆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03120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隊長 蔡宸豪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14600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訊息智慧降噪，只把重要的推到 LINE，告別告警疲勞。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29000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評估自建取代 Make.com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343400"/>
            <a:ext cx="3145536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Owner（待指派 · DIU 追蹤）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18304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＿＿＿＿＿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1368" y="50292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1368" y="5038344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產出 8月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1463040"/>
            <a:ext cx="3602736" cy="41148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691640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小理專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103120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隊長 劉孟函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514600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開完會自動生出摘要、待辦與決策，直送管理中心。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29000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703320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找利基，或內部先用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5152" y="4343400"/>
            <a:ext cx="3145536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4434840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Owner（待指派 · DIU 追蹤）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718304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＿＿＿＿＿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50292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5038344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產出 8月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3023" y="1463040"/>
            <a:ext cx="3602736" cy="4114800"/>
          </a:xfrm>
          <a:prstGeom prst="roundRect">
            <a:avLst>
              <a:gd name="adj" fmla="val 8000"/>
            </a:avLst>
          </a:prstGeom>
          <a:solidFill>
            <a:srgbClr val="FAF3E3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4" y="1691640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通知超人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1" y="2103120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隊長 江村志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1" y="2514600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AI 通知守門員，只在重要時打擾、敏感資料自動遮蔽。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1" y="3429000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1" y="3703320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內部試用看黏著度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21624" y="4343400"/>
            <a:ext cx="3145536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4434840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Owner（待指派 · DIU 追蹤）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4" y="4718304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＿＿＿＿＿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54312" y="50292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4312" y="5038344"/>
            <a:ext cx="12801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產出 8月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C6500"/>
                </a:solidFill>
                <a:latin typeface="Microsoft JhengHei"/>
                <a:ea typeface="Microsoft JhengHei"/>
                <a:cs typeface="Microsoft JhengHei"/>
              </a:rPr>
              <a:t>追蹤機制：</a:t>
            </a:r>
            <a:r>
              <a:rPr sz="11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每組指定一位 Owner，每週 leadership meeting 回報進度；一個月內給出『用/不用』結論，不讓專案自生自滅。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各組下一步 · Owner · 時間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412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依優先順序；每組明列 做什麼／Owner／幾月產出。序號顏色＝去向：綠 流程優化 · 藍 平台 · 紫 KM · 橘 觀察。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07008"/>
          <a:ext cx="11292840" cy="5074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2606040"/>
                <a:gridCol w="1600200"/>
                <a:gridCol w="5394960"/>
                <a:gridCol w="1307592"/>
              </a:tblGrid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#</a:t>
                      </a:r>
                    </a:p>
                  </a:txBody>
                  <a:tcPr marL="45720" marR="27432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專案</a:t>
                      </a:r>
                    </a:p>
                  </a:txBody>
                  <a:tcPr marL="45720" marR="27432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Owner</a:t>
                      </a:r>
                    </a:p>
                  </a:txBody>
                  <a:tcPr marL="45720" marR="27432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下一步</a:t>
                      </a:r>
                    </a:p>
                  </a:txBody>
                  <a:tcPr marL="45720" marR="27432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</a:t>
                      </a:r>
                    </a:p>
                  </a:txBody>
                  <a:tcPr marL="45720" marR="27432" marT="0" marB="0" anchor="ctr">
                    <a:solidFill>
                      <a:srgbClr val="1E2761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Felina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個人→部門→全公司納管 ② 做用量/成本看板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7–10月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出納實驗室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財務試營運 ② 串接 ERP ③ 訂為標準工具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7–10月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DIU.gain(100000)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真實 ERP PoC ② 確認內控邊界 ③ 開放查詢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7–10月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三薪二億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接簽核前置檢核 ② 累積規則庫 ③ 擴大單據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7–9月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揪 Together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HR 推動員工互動 ② 收集回饋 ③ 常態營運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7–10月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10萬碳長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RAE·IAN·GIBBY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用於自家 ESG 報告 ② 專家審準則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7–10月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四娘教子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Julia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從個人擴大到部門 ② 全公司採用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7–9月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Log分析助理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Bryan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IT 擴大使用 ② 累積問題樣板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7–9月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票交覺醒者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Jaguar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確認應用範圍 ② 擴大導入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7–9月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45720" marR="27432" marT="0" marB="0" anchor="ctr">
                    <a:solidFill>
                      <a:srgbClr val="0E7C6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我是助理凱粒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0E7C6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Julia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校準判斷準確度 ② 擴大到 PM 部門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7–9月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PDC木奉木奉（人氣獎）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9C65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Andy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補完 30% 功能 ② 選報價線試點 ③ 看成效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7–10月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招兵買馬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9C65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Julia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HR 用起來 ② 評估使用價值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7–9月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我帶著工程師（佳作）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9C65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Justin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用於 HR 教育訓練 ② 擴大同仁學習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7–9月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</a:t>
                      </a:r>
                    </a:p>
                  </a:txBody>
                  <a:tcPr marL="45720" marR="27432" marT="0" marB="0" anchor="ctr">
                    <a:solidFill>
                      <a:srgbClr val="6A3E9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CorpMind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6A3E9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Allen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原7月→Client Zero 對內試 ② 做對外主體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7月–Q4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</a:t>
                      </a:r>
                    </a:p>
                  </a:txBody>
                  <a:tcPr marL="45720" marR="27432" marT="0" marB="0" anchor="ctr">
                    <a:solidFill>
                      <a:srgbClr val="6A3E9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智庫守護者（佳作）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6A3E9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Allen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用核心引擎做對內版 ② 先上線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7–9月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</a:t>
                      </a:r>
                    </a:p>
                  </a:txBody>
                  <a:tcPr marL="45720" marR="27432" marT="0" marB="0" anchor="ctr">
                    <a:solidFill>
                      <a:srgbClr val="6A3E9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我要10萬（Web-GPT）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6A3E9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Allen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LINE Bot＋爬蟲併入核心入口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9–10月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</a:t>
                      </a:r>
                    </a:p>
                  </a:txBody>
                  <a:tcPr marL="45720" marR="27432" marT="0" marB="0" anchor="ctr">
                    <a:solidFill>
                      <a:srgbClr val="6A3E9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Personal KM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6A3E9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Allen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收斂為個人版 ② 排後續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Q4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</a:t>
                      </a:r>
                    </a:p>
                  </a:txBody>
                  <a:tcPr marL="45720" marR="27432" marT="0" marB="0" anchor="ctr">
                    <a:solidFill>
                      <a:srgbClr val="2E549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A²PE（On-Site）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2E549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WIND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第一批先做 ② 北祥 Client Zero 試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9–10月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</a:t>
                      </a:r>
                    </a:p>
                  </a:txBody>
                  <a:tcPr marL="45720" marR="27432" marT="0" marB="0" anchor="ctr">
                    <a:solidFill>
                      <a:srgbClr val="2E549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好事成雙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2E549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WIND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第一批先做 ② 北祥 Client Zero 試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9–10月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</a:t>
                      </a:r>
                    </a:p>
                  </a:txBody>
                  <a:tcPr marL="45720" marR="27432" marT="0" marB="0" anchor="ctr">
                    <a:solidFill>
                      <a:srgbClr val="2E549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DIUDIU（哨兵）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2E549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WIND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第二批模組 ② 內部先跑一輪案例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Q4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</a:t>
                      </a:r>
                    </a:p>
                  </a:txBody>
                  <a:tcPr marL="45720" marR="27432" marT="0" marB="0" anchor="ctr">
                    <a:solidFill>
                      <a:srgbClr val="2E549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快報開麥拉（佳作）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2E549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WIND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第二批模組 ② 內部行銷先用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Q4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22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三色豆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C05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待指派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評估自建取代 Make.com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23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小理專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C05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待指派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找利基或內部先用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  <a:tr h="202996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</a:t>
                      </a:r>
                    </a:p>
                  </a:txBody>
                  <a:tcPr marL="45720" marR="27432" marT="0" marB="0" anchor="ctr">
                    <a:solidFill>
                      <a:srgbClr val="9C6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293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通知超人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C05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待指派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B42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內部試用看黏著度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E276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8月</a:t>
                      </a:r>
                    </a:p>
                  </a:txBody>
                  <a:tcPr marL="45720" marR="27432" marT="0" marB="0" anchor="ctr">
                    <a:solidFill>
                      <a:srgbClr val="F1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資安治理框架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每個項目上線前走完五項；各專案 Owner 執行前四項，PUNK 最終審核簽核。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55064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1600200"/>
            <a:ext cx="6949440" cy="786384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8249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資安測試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208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上線前源碼檢測與弱點掃描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459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執行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92807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504D"/>
                </a:solidFill>
                <a:latin typeface="Microsoft JhengHei"/>
                <a:ea typeface="Microsoft JhengHei"/>
                <a:cs typeface="Microsoft JhengHei"/>
              </a:rPr>
              <a:t>DIU + James &amp; Rae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560320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505456"/>
            <a:ext cx="6949440" cy="786384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587752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權限/角色稽核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260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最小權限、角色分級、稽核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511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執行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798064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504D"/>
                </a:solidFill>
                <a:latin typeface="Microsoft JhengHei"/>
                <a:ea typeface="Microsoft JhengHei"/>
                <a:cs typeface="Microsoft JhengHei"/>
              </a:rPr>
              <a:t>各專案 Owner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465576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3410712"/>
            <a:ext cx="6949440" cy="786384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49300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PII 遮蔽驗證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3133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敏感資料送 AI 前自動遮蔽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4564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執行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7033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504D"/>
                </a:solidFill>
                <a:latin typeface="Microsoft JhengHei"/>
                <a:ea typeface="Microsoft JhengHei"/>
                <a:cs typeface="Microsoft JhengHei"/>
              </a:rPr>
              <a:t>各 Owner + DIU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370832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4315968"/>
            <a:ext cx="6949440" cy="786384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439826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私有端點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73659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LLM 走地端/Azure 私有端點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3616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執行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608576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504D"/>
                </a:solidFill>
                <a:latin typeface="Microsoft JhengHei"/>
                <a:ea typeface="Microsoft JhengHei"/>
                <a:cs typeface="Microsoft JhengHei"/>
              </a:rPr>
              <a:t>IT / DIU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5276088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5221224"/>
            <a:ext cx="6949440" cy="786384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53035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PUNK 簽核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6418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前四項完成後最終審核放行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26694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執行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513832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504D"/>
                </a:solidFill>
                <a:latin typeface="Microsoft JhengHei"/>
                <a:ea typeface="Microsoft JhengHei"/>
                <a:cs typeface="Microsoft JhengHei"/>
              </a:rPr>
              <a:t>PUNK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1600200"/>
            <a:ext cx="2999232" cy="1600200"/>
          </a:xfrm>
          <a:prstGeom prst="roundRect">
            <a:avLst>
              <a:gd name="adj" fmla="val 10000"/>
            </a:avLst>
          </a:prstGeom>
          <a:solidFill>
            <a:srgbClr val="FAF0EF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92640" y="1810512"/>
            <a:ext cx="603504" cy="603504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487168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最終審核 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278892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0504D"/>
                </a:solidFill>
                <a:latin typeface="Microsoft JhengHei"/>
                <a:ea typeface="Microsoft JhengHei"/>
                <a:cs typeface="Microsoft JhengHei"/>
              </a:rPr>
              <a:t>PUNK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49640" y="3337560"/>
            <a:ext cx="2999232" cy="27889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34747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Enablement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886200"/>
            <a:ext cx="2697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讓各 Owner 有能力自行完成前四項：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· 提供資安檢核清單與範本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· 一次資安教育訓練/工作坊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· 每案 kickoff 資安對齊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· PUNK 最後把關、逐案簽核</a:t>
            </a:r>
          </a:p>
          <a:p>
            <a:pPr algn="l"/>
            <a:r>
              <a:rPr sz="950" b="1">
                <a:solidFill>
                  <a:srgbClr val="C0504D"/>
                </a:solidFill>
                <a:latin typeface="Microsoft JhengHei"/>
                <a:ea typeface="Microsoft JhengHei"/>
                <a:cs typeface="Microsoft JhengHei"/>
              </a:rPr>
              <a:t>時程：8月建立、隨案執行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產品化要做的事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平台（WIND）與 KM（Allen）要真正對外賣，必須一起規劃；每項標月份。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755648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定價與商業模式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5807" y="17739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7" y="1783080"/>
            <a:ext cx="9601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04288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模組化訂閱、分級、地端授權、按用量計費。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1737360"/>
            <a:ext cx="457200" cy="45720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1755648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品牌與官網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39128" y="17739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783080"/>
            <a:ext cx="9601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9–10月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304288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產品命名、對外形象、官網與 Demo 環境。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9" y="1737360"/>
            <a:ext cx="457200" cy="457200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1755648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導入與客服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42448" y="17739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42448" y="1783080"/>
            <a:ext cx="9601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304288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上手流程、教學文件、支援與 SLA。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54680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59" y="3337560"/>
            <a:ext cx="457200" cy="457200"/>
          </a:xfrm>
          <a:prstGeom prst="ellipse">
            <a:avLst/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355848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地端版打包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35807" y="33741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35807" y="3383280"/>
            <a:ext cx="9601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10月–Q4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904488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Docker／內網一鍵安裝，供資料主權客戶。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154680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26280" y="3337560"/>
            <a:ext cx="457200" cy="4572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3208" y="3355848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法遵與合約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39128" y="33741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9128" y="3383280"/>
            <a:ext cx="9601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9–10月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6" y="3904488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個資法、資料處理條款、授權與資安承諾。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154680"/>
            <a:ext cx="3493008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  <a:effectLst>
            <a:outerShdw blurRad="50000" dist="25000" dir="5400000" rotWithShape="0">
              <a:srgbClr val="9AA3B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599" y="3337560"/>
            <a:ext cx="457200" cy="457200"/>
          </a:xfrm>
          <a:prstGeom prst="ellipse">
            <a:avLst/>
          </a:prstGeom>
          <a:solidFill>
            <a:srgbClr val="2F7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3355848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KM 問答入口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42448" y="33741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42448" y="3383280"/>
            <a:ext cx="9601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5" y="3904488"/>
            <a:ext cx="30815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B424E"/>
                </a:solidFill>
                <a:latin typeface="Microsoft JhengHei"/>
                <a:ea typeface="Microsoft JhengHei"/>
                <a:cs typeface="Microsoft JhengHei"/>
              </a:rPr>
              <a:t>與 Allen KM 線共用引擎，作平台知識模組。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46320"/>
            <a:ext cx="11000232" cy="14630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97433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商業模式一句話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單一帳號、模組化訂閱：按需開通、按人或用量收費；資料主權者買地端版。先用 2 個模組打進中小企業，再靠平台黏著加購其他模組。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月度里程碑 · 路線圖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從本月（7月）啟動，四大去向逐月推進；每個里程碑都有 Owner，每日追蹤、每週檢視。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4328" y="13716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24328" y="1380744"/>
            <a:ext cx="12344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▶ 現在</a:t>
            </a:r>
          </a:p>
        </p:txBody>
      </p:sp>
      <p:sp>
        <p:nvSpPr>
          <p:cNvPr id="6" name="Chevron 5"/>
          <p:cNvSpPr/>
          <p:nvPr/>
        </p:nvSpPr>
        <p:spPr>
          <a:xfrm>
            <a:off x="2487168" y="1737360"/>
            <a:ext cx="2432304" cy="50292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7月</a:t>
            </a:r>
          </a:p>
        </p:txBody>
      </p:sp>
      <p:sp>
        <p:nvSpPr>
          <p:cNvPr id="7" name="Chevron 6"/>
          <p:cNvSpPr/>
          <p:nvPr/>
        </p:nvSpPr>
        <p:spPr>
          <a:xfrm>
            <a:off x="4700016" y="1737360"/>
            <a:ext cx="2432304" cy="50292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8月</a:t>
            </a:r>
          </a:p>
        </p:txBody>
      </p:sp>
      <p:sp>
        <p:nvSpPr>
          <p:cNvPr id="8" name="Chevron 7"/>
          <p:cNvSpPr/>
          <p:nvPr/>
        </p:nvSpPr>
        <p:spPr>
          <a:xfrm>
            <a:off x="6912864" y="1737360"/>
            <a:ext cx="2432304" cy="50292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9月</a:t>
            </a:r>
          </a:p>
        </p:txBody>
      </p:sp>
      <p:sp>
        <p:nvSpPr>
          <p:cNvPr id="9" name="Chevron 8"/>
          <p:cNvSpPr/>
          <p:nvPr/>
        </p:nvSpPr>
        <p:spPr>
          <a:xfrm>
            <a:off x="9125712" y="1737360"/>
            <a:ext cx="2432304" cy="50292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10–12月 · Q4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1783079" cy="804671"/>
          </a:xfrm>
          <a:prstGeom prst="roundRect">
            <a:avLst>
              <a:gd name="adj" fmla="val 1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23160"/>
            <a:ext cx="1581911" cy="8046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流程優化・產品孵化</a:t>
            </a:r>
          </a:p>
        </p:txBody>
      </p:sp>
      <p:sp>
        <p:nvSpPr>
          <p:cNvPr id="12" name="Chevron 11"/>
          <p:cNvSpPr/>
          <p:nvPr/>
        </p:nvSpPr>
        <p:spPr>
          <a:xfrm>
            <a:off x="2487168" y="2395728"/>
            <a:ext cx="2432304" cy="859536"/>
          </a:xfrm>
          <a:prstGeom prst="chevron">
            <a:avLst/>
          </a:prstGeom>
          <a:solidFill>
            <a:srgbClr val="E9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個人/單機先用</a:t>
            </a:r>
          </a:p>
        </p:txBody>
      </p:sp>
      <p:sp>
        <p:nvSpPr>
          <p:cNvPr id="13" name="Chevron 12"/>
          <p:cNvSpPr/>
          <p:nvPr/>
        </p:nvSpPr>
        <p:spPr>
          <a:xfrm>
            <a:off x="4700016" y="2395728"/>
            <a:ext cx="2432304" cy="859536"/>
          </a:xfrm>
          <a:prstGeom prst="chevron">
            <a:avLst/>
          </a:prstGeom>
          <a:solidFill>
            <a:srgbClr val="E9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部門推廣</a:t>
            </a:r>
          </a:p>
        </p:txBody>
      </p:sp>
      <p:sp>
        <p:nvSpPr>
          <p:cNvPr id="14" name="Chevron 13"/>
          <p:cNvSpPr/>
          <p:nvPr/>
        </p:nvSpPr>
        <p:spPr>
          <a:xfrm>
            <a:off x="6912864" y="2395728"/>
            <a:ext cx="2432304" cy="859536"/>
          </a:xfrm>
          <a:prstGeom prst="chevron">
            <a:avLst/>
          </a:prstGeom>
          <a:solidFill>
            <a:srgbClr val="E9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全公司 · 看成效</a:t>
            </a:r>
          </a:p>
        </p:txBody>
      </p:sp>
      <p:sp>
        <p:nvSpPr>
          <p:cNvPr id="15" name="Chevron 14"/>
          <p:cNvSpPr/>
          <p:nvPr/>
        </p:nvSpPr>
        <p:spPr>
          <a:xfrm>
            <a:off x="9125712" y="2395728"/>
            <a:ext cx="2432304" cy="859536"/>
          </a:xfrm>
          <a:prstGeom prst="chevron">
            <a:avLst/>
          </a:prstGeom>
          <a:solidFill>
            <a:srgbClr val="E9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持續優化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92424"/>
            <a:ext cx="1783079" cy="804671"/>
          </a:xfrm>
          <a:prstGeom prst="roundRect">
            <a:avLst>
              <a:gd name="adj" fmla="val 1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392424"/>
            <a:ext cx="1581911" cy="8046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中小企業 AI 平台</a:t>
            </a:r>
          </a:p>
        </p:txBody>
      </p:sp>
      <p:sp>
        <p:nvSpPr>
          <p:cNvPr id="18" name="Chevron 17"/>
          <p:cNvSpPr/>
          <p:nvPr/>
        </p:nvSpPr>
        <p:spPr>
          <a:xfrm>
            <a:off x="2487168" y="3364992"/>
            <a:ext cx="2432304" cy="859536"/>
          </a:xfrm>
          <a:prstGeom prst="chevron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架構＋共用外殼</a:t>
            </a:r>
          </a:p>
        </p:txBody>
      </p:sp>
      <p:sp>
        <p:nvSpPr>
          <p:cNvPr id="19" name="Chevron 18"/>
          <p:cNvSpPr/>
          <p:nvPr/>
        </p:nvSpPr>
        <p:spPr>
          <a:xfrm>
            <a:off x="4700016" y="3364992"/>
            <a:ext cx="2432304" cy="859536"/>
          </a:xfrm>
          <a:prstGeom prst="chevron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2 模組 MVP＋Client Zero</a:t>
            </a:r>
          </a:p>
        </p:txBody>
      </p:sp>
      <p:sp>
        <p:nvSpPr>
          <p:cNvPr id="20" name="Chevron 19"/>
          <p:cNvSpPr/>
          <p:nvPr/>
        </p:nvSpPr>
        <p:spPr>
          <a:xfrm>
            <a:off x="6912864" y="3364992"/>
            <a:ext cx="2432304" cy="859536"/>
          </a:xfrm>
          <a:prstGeom prst="chevron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資安測試</a:t>
            </a:r>
          </a:p>
        </p:txBody>
      </p:sp>
      <p:sp>
        <p:nvSpPr>
          <p:cNvPr id="21" name="Chevron 20"/>
          <p:cNvSpPr/>
          <p:nvPr/>
        </p:nvSpPr>
        <p:spPr>
          <a:xfrm>
            <a:off x="9125712" y="3364992"/>
            <a:ext cx="2432304" cy="859536"/>
          </a:xfrm>
          <a:prstGeom prst="chevron">
            <a:avLst/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對外試點＋擴充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61688"/>
            <a:ext cx="1783079" cy="804671"/>
          </a:xfrm>
          <a:prstGeom prst="roundRect">
            <a:avLst>
              <a:gd name="adj" fmla="val 10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361688"/>
            <a:ext cx="1581911" cy="8046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KM 整合產品</a:t>
            </a:r>
          </a:p>
        </p:txBody>
      </p:sp>
      <p:sp>
        <p:nvSpPr>
          <p:cNvPr id="24" name="Chevron 23"/>
          <p:cNvSpPr/>
          <p:nvPr/>
        </p:nvSpPr>
        <p:spPr>
          <a:xfrm>
            <a:off x="2487168" y="4334256"/>
            <a:ext cx="2432304" cy="859536"/>
          </a:xfrm>
          <a:prstGeom prst="chevron">
            <a:avLst/>
          </a:prstGeom>
          <a:solidFill>
            <a:srgbClr val="F1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CorpMind Client Zero</a:t>
            </a:r>
          </a:p>
        </p:txBody>
      </p:sp>
      <p:sp>
        <p:nvSpPr>
          <p:cNvPr id="25" name="Chevron 24"/>
          <p:cNvSpPr/>
          <p:nvPr/>
        </p:nvSpPr>
        <p:spPr>
          <a:xfrm>
            <a:off x="4700016" y="4334256"/>
            <a:ext cx="2432304" cy="859536"/>
          </a:xfrm>
          <a:prstGeom prst="chevron">
            <a:avLst/>
          </a:prstGeom>
          <a:solidFill>
            <a:srgbClr val="F1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對內版上線</a:t>
            </a:r>
          </a:p>
        </p:txBody>
      </p:sp>
      <p:sp>
        <p:nvSpPr>
          <p:cNvPr id="26" name="Chevron 25"/>
          <p:cNvSpPr/>
          <p:nvPr/>
        </p:nvSpPr>
        <p:spPr>
          <a:xfrm>
            <a:off x="6912864" y="4334256"/>
            <a:ext cx="2432304" cy="859536"/>
          </a:xfrm>
          <a:prstGeom prst="chevron">
            <a:avLst/>
          </a:prstGeom>
          <a:solidFill>
            <a:srgbClr val="F1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入口＋個人版</a:t>
            </a:r>
          </a:p>
        </p:txBody>
      </p:sp>
      <p:sp>
        <p:nvSpPr>
          <p:cNvPr id="27" name="Chevron 26"/>
          <p:cNvSpPr/>
          <p:nvPr/>
        </p:nvSpPr>
        <p:spPr>
          <a:xfrm>
            <a:off x="9125712" y="4334256"/>
            <a:ext cx="2432304" cy="859536"/>
          </a:xfrm>
          <a:prstGeom prst="chevron">
            <a:avLst/>
          </a:prstGeom>
          <a:solidFill>
            <a:srgbClr val="F1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對外 CorpMind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30952"/>
            <a:ext cx="1783079" cy="804671"/>
          </a:xfrm>
          <a:prstGeom prst="roundRect">
            <a:avLst>
              <a:gd name="adj" fmla="val 1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5330952"/>
            <a:ext cx="1581911" cy="8046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資安 · 產品化</a:t>
            </a:r>
          </a:p>
        </p:txBody>
      </p:sp>
      <p:sp>
        <p:nvSpPr>
          <p:cNvPr id="30" name="Chevron 29"/>
          <p:cNvSpPr/>
          <p:nvPr/>
        </p:nvSpPr>
        <p:spPr>
          <a:xfrm>
            <a:off x="2487168" y="5303520"/>
            <a:ext cx="2432304" cy="859536"/>
          </a:xfrm>
          <a:prstGeom prst="chevron">
            <a:avLst/>
          </a:prstGeom>
          <a:solidFill>
            <a:srgbClr val="FA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資安 Enablement</a:t>
            </a:r>
          </a:p>
        </p:txBody>
      </p:sp>
      <p:sp>
        <p:nvSpPr>
          <p:cNvPr id="31" name="Chevron 30"/>
          <p:cNvSpPr/>
          <p:nvPr/>
        </p:nvSpPr>
        <p:spPr>
          <a:xfrm>
            <a:off x="4700016" y="5303520"/>
            <a:ext cx="2432304" cy="859536"/>
          </a:xfrm>
          <a:prstGeom prst="chevron">
            <a:avLst/>
          </a:prstGeom>
          <a:solidFill>
            <a:srgbClr val="FA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定價/品牌/官網</a:t>
            </a:r>
          </a:p>
        </p:txBody>
      </p:sp>
      <p:sp>
        <p:nvSpPr>
          <p:cNvPr id="32" name="Chevron 31"/>
          <p:cNvSpPr/>
          <p:nvPr/>
        </p:nvSpPr>
        <p:spPr>
          <a:xfrm>
            <a:off x="6912864" y="5303520"/>
            <a:ext cx="2432304" cy="859536"/>
          </a:xfrm>
          <a:prstGeom prst="chevron">
            <a:avLst/>
          </a:prstGeom>
          <a:solidFill>
            <a:srgbClr val="FA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導入/客服/法遵</a:t>
            </a:r>
          </a:p>
        </p:txBody>
      </p:sp>
      <p:sp>
        <p:nvSpPr>
          <p:cNvPr id="33" name="Chevron 32"/>
          <p:cNvSpPr/>
          <p:nvPr/>
        </p:nvSpPr>
        <p:spPr>
          <a:xfrm>
            <a:off x="9125712" y="5303520"/>
            <a:ext cx="2432304" cy="859536"/>
          </a:xfrm>
          <a:prstGeom prst="chevron">
            <a:avLst/>
          </a:prstGeom>
          <a:solidFill>
            <a:srgbClr val="FA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182880" tIns="0" bIns="0"/>
          <a:lstStyle/>
          <a:p>
            <a:pPr algn="ctr"/>
            <a:r>
              <a:rPr sz="950" b="1">
                <a:solidFill>
                  <a:srgbClr val="212934"/>
                </a:solidFill>
                <a:latin typeface="Microsoft JhengHei"/>
                <a:ea typeface="Microsoft JhengHei"/>
                <a:cs typeface="Microsoft JhengHei"/>
              </a:rPr>
              <a:t>地端版＋KM 入口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每項里程碑皆有 Owner；每日追蹤、每週 leadership meeting 檢視進度與產出。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3017520" cy="475488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30175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★ TOP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治理節奏 · 全公司優先推動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377440"/>
            <a:ext cx="502920" cy="502920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每日追蹤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各專案 Owner 每日更新進度與卡點。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1416" y="214884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0016" y="2377440"/>
            <a:ext cx="502920" cy="502920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5816" y="233172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每週回報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9077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每週 leadership meeting 檢視里程碑與產出。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14884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26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48472" y="2377440"/>
            <a:ext cx="502920" cy="502920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233172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DIU 主導 · 眾人之事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9077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DIU 帶頭、結合各 Leader 協作，這是大家的事。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Owner 分工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270248"/>
            <a:ext cx="292608" cy="292608"/>
          </a:xfrm>
          <a:prstGeom prst="ellipse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5196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流程優化・產品孵化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25196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RAE·IAN·GIBBY　+ Julia · Bryan · Jaguar · Andy · Justin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727448"/>
            <a:ext cx="292608" cy="292608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70916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中小企業 AI 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70916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WIND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184648"/>
            <a:ext cx="292608" cy="292608"/>
          </a:xfrm>
          <a:prstGeom prst="ellipse">
            <a:avLst/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6636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KM 整合產品·完整智多Boom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16636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Allen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5641848"/>
            <a:ext cx="292608" cy="292608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62356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資安審核（橫向）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562356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PUNK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大前提：</a:t>
            </a:r>
            <a:r>
              <a:rPr sz="11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明列 做什麼 · Owner 是誰 · 什麼時候要有什麼產出。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61991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28919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7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6A3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62775" y="1828800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9C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凝聚創意 · 放大能量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29000"/>
            <a:ext cx="94484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不是為了做而做——把好創意與同仁的每一分能量，一起凝聚、最大化。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448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FB3E8"/>
                </a:solidFill>
                <a:latin typeface="Microsoft JhengHei"/>
                <a:ea typeface="Microsoft JhengHei"/>
                <a:cs typeface="Microsoft JhengHei"/>
              </a:rPr>
              <a:t>不論是流程優化，還是產品孵化。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7FE3D4"/>
                </a:solidFill>
                <a:latin typeface="Microsoft JhengHei"/>
                <a:ea typeface="Microsoft JhengHei"/>
                <a:cs typeface="Microsoft JhengHei"/>
              </a:rPr>
              <a:t>感謝這次每一位參與的夥伴。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