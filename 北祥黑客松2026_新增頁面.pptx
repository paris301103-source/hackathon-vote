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接下來五件事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554480"/>
            <a:ext cx="502920" cy="502920"/>
          </a:xfrm>
          <a:prstGeom prst="ellipse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00200" y="1536192"/>
            <a:ext cx="7589520" cy="658368"/>
          </a:xfrm>
          <a:prstGeom prst="roundRect">
            <a:avLst>
              <a:gd name="adj" fmla="val 12000"/>
            </a:avLst>
          </a:prstGeom>
          <a:solidFill>
            <a:srgbClr val="26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09344"/>
            <a:ext cx="7132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流程優化：立即導入 6 組上線試營運，同步研究佈署/權限/市場（RAE·IAN·GIBBY）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1655064"/>
            <a:ext cx="1993392" cy="457200"/>
          </a:xfrm>
          <a:prstGeom prst="roundRect">
            <a:avLst>
              <a:gd name="adj" fmla="val 50000"/>
            </a:avLst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0" y="1673352"/>
            <a:ext cx="19933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本季 Q3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377440"/>
            <a:ext cx="502920" cy="502920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00200" y="2359152"/>
            <a:ext cx="7589520" cy="658368"/>
          </a:xfrm>
          <a:prstGeom prst="roundRect">
            <a:avLst>
              <a:gd name="adj" fmla="val 12000"/>
            </a:avLst>
          </a:prstGeom>
          <a:solidFill>
            <a:srgbClr val="26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2432304"/>
            <a:ext cx="7132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KM 四組收斂為一套引擎，先出對內版（Allen）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2478024"/>
            <a:ext cx="1993392" cy="457200"/>
          </a:xfrm>
          <a:prstGeom prst="roundRect">
            <a:avLst>
              <a:gd name="adj" fmla="val 50000"/>
            </a:avLst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2496312"/>
            <a:ext cx="19933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Q3 啟動·Q4 上線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200400"/>
            <a:ext cx="502920" cy="502920"/>
          </a:xfrm>
          <a:prstGeom prst="ellipse">
            <a:avLst/>
          </a:prstGeom>
          <a:solidFill>
            <a:srgbClr val="6A3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00200" y="3182112"/>
            <a:ext cx="7589520" cy="658368"/>
          </a:xfrm>
          <a:prstGeom prst="roundRect">
            <a:avLst>
              <a:gd name="adj" fmla="val 12000"/>
            </a:avLst>
          </a:prstGeom>
          <a:solidFill>
            <a:srgbClr val="26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3255264"/>
            <a:ext cx="7132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平台定架構＋2 明星模組 Demo，找中小企業試點（WIND）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3300984"/>
            <a:ext cx="1993392" cy="457200"/>
          </a:xfrm>
          <a:prstGeom prst="roundRect">
            <a:avLst>
              <a:gd name="adj" fmla="val 50000"/>
            </a:avLst>
          </a:prstGeom>
          <a:solidFill>
            <a:srgbClr val="6A3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3319272"/>
            <a:ext cx="19933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Q4 Demo·Q1 試點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4023360"/>
            <a:ext cx="502920" cy="502920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00200" y="4005072"/>
            <a:ext cx="7589520" cy="658368"/>
          </a:xfrm>
          <a:prstGeom prst="roundRect">
            <a:avLst>
              <a:gd name="adj" fmla="val 12000"/>
            </a:avLst>
          </a:prstGeom>
          <a:solidFill>
            <a:srgbClr val="26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4078224"/>
            <a:ext cx="7132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建立五項資安確認流程，逐案簽核（PUNK）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4123944"/>
            <a:ext cx="1993392" cy="457200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4142232"/>
            <a:ext cx="19933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即刻·隨案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4846320"/>
            <a:ext cx="502920" cy="502920"/>
          </a:xfrm>
          <a:prstGeom prst="ellipse">
            <a:avLst/>
          </a:prstGeom>
          <a:solidFill>
            <a:srgbClr val="9C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00200" y="4828032"/>
            <a:ext cx="7589520" cy="658368"/>
          </a:xfrm>
          <a:prstGeom prst="roundRect">
            <a:avLst>
              <a:gd name="adj" fmla="val 12000"/>
            </a:avLst>
          </a:prstGeom>
          <a:solidFill>
            <a:srgbClr val="26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4901184"/>
            <a:ext cx="7132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 組流程優化觀察＋6 組觀察評估，排時程陸續定案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4946904"/>
            <a:ext cx="1993392" cy="457200"/>
          </a:xfrm>
          <a:prstGeom prst="roundRect">
            <a:avLst>
              <a:gd name="adj" fmla="val 50000"/>
            </a:avLst>
          </a:prstGeom>
          <a:solidFill>
            <a:srgbClr val="9C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4965192"/>
            <a:ext cx="19933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Q4 起滾動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7FE3D4"/>
                </a:solidFill>
                <a:latin typeface="Microsoft JhengHei"/>
                <a:ea typeface="Microsoft JhengHei"/>
                <a:cs typeface="Microsoft JhengHei"/>
              </a:rPr>
              <a:t>敢想，就能 Run。</a:t>
            </a:r>
            <a:r>
              <a:rPr sz="1300" b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　把黑客松成果，變成公司真的在用的東西。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後續評估與優化重點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這三組的具體後續行動，Owner 保留待指派。其餘觀察組滾動評估。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72768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FAF3E3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19072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PDC木奉木奉小隊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121408"/>
            <a:ext cx="7589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🔥 人氣王 ｜ 隊長 江釗杰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423160"/>
            <a:ext cx="7589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本次人氣票數最高。目前完成度約 70%，接下來 30% 繼續優化、把功能做完整。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865376"/>
            <a:ext cx="251460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1956816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Owner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2249424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＿＿＿（待指派）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54096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E9F3F0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00400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我帶著工程師的頭銜回來了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602736"/>
            <a:ext cx="7589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隊長 吳佳珊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904487"/>
            <a:ext cx="7589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評估用於 HR 教育訓練——把 RPG 闖關學習用在新人與同仁的 AI 學習上。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3346703"/>
            <a:ext cx="251460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3438144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3730752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＿＿＿（待指派）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535424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681728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招兵買馬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5084064"/>
            <a:ext cx="7589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隊長 許智堯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385816"/>
            <a:ext cx="7589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請 HR 級主管評估是否有實際使用價值，再決定是否導入或產品化。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4828032"/>
            <a:ext cx="251460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32520" y="4919472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Owner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521208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＿＿＿（待指派）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61991" y="1828800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528919" y="1828800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5847" y="1828800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6A3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62775" y="1828800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9C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628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凝聚創意 · 放大能量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429000"/>
            <a:ext cx="94484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不是為了做而做——把好創意與同仁的每一分能量，一起凝聚、最大化。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94484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FB3E8"/>
                </a:solidFill>
                <a:latin typeface="Microsoft JhengHei"/>
                <a:ea typeface="Microsoft JhengHei"/>
                <a:cs typeface="Microsoft JhengHei"/>
              </a:rPr>
              <a:t>不論是流程優化，還是產品孵化。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66360"/>
            <a:ext cx="10362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7FE3D4"/>
                </a:solidFill>
                <a:latin typeface="Microsoft JhengHei"/>
                <a:ea typeface="Microsoft JhengHei"/>
                <a:cs typeface="Microsoft JhengHei"/>
              </a:rPr>
              <a:t>感謝這次每一位參與的夥伴。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